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3"/>
  </p:sldMasterIdLst>
  <p:notesMasterIdLst>
    <p:notesMasterId r:id="rId30"/>
  </p:notesMasterIdLst>
  <p:handoutMasterIdLst>
    <p:handoutMasterId r:id="rId31"/>
  </p:handoutMasterIdLst>
  <p:sldIdLst>
    <p:sldId id="256" r:id="rId4"/>
    <p:sldId id="272" r:id="rId5"/>
    <p:sldId id="280" r:id="rId6"/>
    <p:sldId id="257" r:id="rId7"/>
    <p:sldId id="292" r:id="rId8"/>
    <p:sldId id="293" r:id="rId9"/>
    <p:sldId id="294" r:id="rId10"/>
    <p:sldId id="295" r:id="rId11"/>
    <p:sldId id="258" r:id="rId12"/>
    <p:sldId id="291" r:id="rId13"/>
    <p:sldId id="276" r:id="rId14"/>
    <p:sldId id="259" r:id="rId15"/>
    <p:sldId id="264" r:id="rId16"/>
    <p:sldId id="277" r:id="rId17"/>
    <p:sldId id="290" r:id="rId18"/>
    <p:sldId id="279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6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1F23B8-3173-4534-9EA3-2CC3BE25F0A6}" v="7" dt="2022-08-30T12:02:09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3" autoAdjust="0"/>
    <p:restoredTop sz="95153"/>
  </p:normalViewPr>
  <p:slideViewPr>
    <p:cSldViewPr snapToGrid="0" snapToObjects="1">
      <p:cViewPr>
        <p:scale>
          <a:sx n="66" d="100"/>
          <a:sy n="66" d="100"/>
        </p:scale>
        <p:origin x="840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90F265C-9DF2-E8FB-C281-49A95720C6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C688A12-072E-E9DD-75D8-792036B5C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F0298-9D9B-42EE-9FBC-5BF5BA8C94E8}" type="datetimeFigureOut">
              <a:rPr lang="en-GB" smtClean="0"/>
              <a:t>09/09/2023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4286D79-EFC6-014D-40F3-68F8FB024E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0CA9D36-8240-DBBB-128E-9E573BE9AC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436C1-A97E-48B9-A38A-E4B8449736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307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15EC-E103-EA4C-8F3D-F70BFBFE368F}" type="datetimeFigureOut">
              <a:rPr lang="x-none" smtClean="0"/>
              <a:t>9/9/2023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5D39E-BF79-5044-9B9C-292D64001D9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0034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Title of the Project</a:t>
            </a:r>
            <a:endParaRPr lang="x-none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C29D53-9981-884B-B5B6-B5743DF81FD1}" type="slidenum">
              <a:rPr lang="x-none" smtClean="0"/>
              <a:t>‹#›</a:t>
            </a:fld>
            <a:endParaRPr lang="x-non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ACC9C879-EF2D-BA4E-B6A9-D4377737278E}"/>
              </a:ext>
            </a:extLst>
          </p:cNvPr>
          <p:cNvSpPr/>
          <p:nvPr userDrawn="1"/>
        </p:nvSpPr>
        <p:spPr>
          <a:xfrm>
            <a:off x="0" y="0"/>
            <a:ext cx="12192000" cy="15622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2400" dirty="0">
                <a:latin typeface="Arial" panose="020B0604020202020204" pitchFamily="34" charset="0"/>
                <a:cs typeface="Arial" panose="020B0604020202020204" pitchFamily="34" charset="0"/>
              </a:rPr>
              <a:t>EEE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318</a:t>
            </a:r>
            <a:r>
              <a:rPr lang="x-none" sz="2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Control </a:t>
            </a:r>
            <a:r>
              <a:rPr lang="x-none" sz="2400" dirty="0">
                <a:latin typeface="Arial" panose="020B0604020202020204" pitchFamily="34" charset="0"/>
                <a:cs typeface="Arial" panose="020B0604020202020204" pitchFamily="34" charset="0"/>
              </a:rPr>
              <a:t>Systems Laboratory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sz="2800" dirty="0">
                <a:latin typeface="Arial" panose="020B0604020202020204" pitchFamily="34" charset="0"/>
                <a:cs typeface="Arial" panose="020B0604020202020204" pitchFamily="34" charset="0"/>
              </a:rPr>
              <a:t>Jan 202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x-none" sz="2800" dirty="0">
                <a:latin typeface="Arial" panose="020B0604020202020204" pitchFamily="34" charset="0"/>
                <a:cs typeface="Arial" panose="020B0604020202020204" pitchFamily="34" charset="0"/>
              </a:rPr>
              <a:t> Level-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x-none" sz="2800" dirty="0">
                <a:latin typeface="Arial" panose="020B0604020202020204" pitchFamily="34" charset="0"/>
                <a:cs typeface="Arial" panose="020B0604020202020204" pitchFamily="34" charset="0"/>
              </a:rPr>
              <a:t> Term-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x-non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x-none" sz="3600" dirty="0">
                <a:latin typeface="Arial" panose="020B0604020202020204" pitchFamily="34" charset="0"/>
                <a:cs typeface="Arial" panose="020B0604020202020204" pitchFamily="34" charset="0"/>
              </a:rPr>
              <a:t>Final Project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A799C6A4-662A-4C47-AB70-4A7A449F40AE}"/>
              </a:ext>
            </a:extLst>
          </p:cNvPr>
          <p:cNvSpPr/>
          <p:nvPr userDrawn="1"/>
        </p:nvSpPr>
        <p:spPr>
          <a:xfrm>
            <a:off x="0" y="5968657"/>
            <a:ext cx="12192000" cy="8893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2865755" algn="ctr"/>
                <a:tab pos="5731510" algn="r"/>
              </a:tabLst>
            </a:pPr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Bangladesh University of Engineering and Technology</a:t>
            </a:r>
            <a:endParaRPr lang="en-GB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800" cap="small" spc="16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Department of Electrical and Electronic Engineering</a:t>
            </a:r>
            <a:endParaRPr lang="x-non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xmlns="" id="{89B5FDC4-269D-0A46-8DED-E482158D83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r="84048"/>
          <a:stretch/>
        </p:blipFill>
        <p:spPr>
          <a:xfrm>
            <a:off x="1682496" y="6046044"/>
            <a:ext cx="793630" cy="7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2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9649038-E67C-F32D-3A4E-49766B9C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EEE 318 (2023) – Final Project Group A.XY</a:t>
            </a:r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54079AD-4F4B-2A08-E54B-560665B9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FBC4AE-B903-2951-368D-1CD59AE1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x-none" smtClean="0"/>
              <a:pPr/>
              <a:t>‹#›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1943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xmlns="" id="{7A532869-E847-B04C-9454-B1BBC68D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(2023) – Final Project Group A.XY</a:t>
            </a:r>
            <a:endParaRPr lang="x-none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xmlns="" id="{39C3B094-71D1-654C-855E-07B8BFC1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23745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x-none" smtClean="0"/>
              <a:t>‹#›</a:t>
            </a:fld>
            <a:endParaRPr lang="x-none"/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xmlns="" id="{3AA596F9-6385-224E-8B6A-50967833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(2023) – Final Project Group A.XY</a:t>
            </a:r>
            <a:endParaRPr lang="x-none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xmlns="" id="{1CB05F73-B36B-5A48-81EA-E76B1357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18402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x-none" smtClean="0"/>
              <a:t>‹#›</a:t>
            </a:fld>
            <a:endParaRPr lang="x-non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24A8BE3A-860F-304A-9628-0D1C6721E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(2023) – Final Project Group A.XY</a:t>
            </a:r>
            <a:endParaRPr lang="x-non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78BF763A-9E9F-6745-958E-87128C40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44822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29D53-9981-884B-B5B6-B5743DF81FD1}" type="slidenum">
              <a:rPr lang="x-none" smtClean="0"/>
              <a:t>‹#›</a:t>
            </a:fld>
            <a:endParaRPr lang="x-none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xmlns="" id="{7E522AF0-01E9-C04B-A4BD-1E790BA6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(2023) – Final Project Group A.XY</a:t>
            </a:r>
            <a:endParaRPr lang="x-none" dirty="0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xmlns="" id="{6FE88DDB-FE65-5846-A692-EED395E9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97047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852ED7D-C8C9-FC45-9D41-2B197068D5F8}"/>
              </a:ext>
            </a:extLst>
          </p:cNvPr>
          <p:cNvSpPr/>
          <p:nvPr userDrawn="1"/>
        </p:nvSpPr>
        <p:spPr>
          <a:xfrm>
            <a:off x="1" y="6457189"/>
            <a:ext cx="12192000" cy="4131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459714"/>
            <a:ext cx="10058400" cy="7290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493520"/>
            <a:ext cx="10058400" cy="454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0950" y="6501638"/>
            <a:ext cx="521970" cy="3085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E9C29D53-9981-884B-B5B6-B5743DF81FD1}" type="slidenum">
              <a:rPr lang="x-none" smtClean="0"/>
              <a:pPr/>
              <a:t>‹#›</a:t>
            </a:fld>
            <a:endParaRPr lang="x-non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xmlns="" id="{8D083A58-BF4A-C247-A39E-31621332A2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rcRect r="84048"/>
          <a:stretch/>
        </p:blipFill>
        <p:spPr>
          <a:xfrm>
            <a:off x="51125" y="6457189"/>
            <a:ext cx="381361" cy="352979"/>
          </a:xfrm>
          <a:prstGeom prst="rect">
            <a:avLst/>
          </a:prstGeom>
        </p:spPr>
      </p:pic>
      <p:sp>
        <p:nvSpPr>
          <p:cNvPr id="10" name="Date Placeholder 5">
            <a:extLst>
              <a:ext uri="{FF2B5EF4-FFF2-40B4-BE49-F238E27FC236}">
                <a16:creationId xmlns:a16="http://schemas.microsoft.com/office/drawing/2014/main" xmlns="" id="{576C60AE-BF9F-E948-A464-57EC6013BD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486" y="6501637"/>
            <a:ext cx="3968064" cy="3941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n-US" dirty="0"/>
              <a:t>EEE 318 (2023) – Final Project Group A.XY</a:t>
            </a:r>
            <a:endParaRPr lang="x-none" dirty="0"/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xmlns="" id="{DCD1120D-AD02-624F-AC7B-A52A109EC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00550" y="6507645"/>
            <a:ext cx="5000625" cy="375412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x-none" dirty="0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15582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3" r:id="rId3"/>
    <p:sldLayoutId id="2147483714" r:id="rId4"/>
    <p:sldLayoutId id="2147483715" r:id="rId5"/>
    <p:sldLayoutId id="2147483716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BUILD &amp; CODE: Elegoo Arduino starter kit servo, LED, and ...">
            <a:extLst>
              <a:ext uri="{FF2B5EF4-FFF2-40B4-BE49-F238E27FC236}">
                <a16:creationId xmlns:a16="http://schemas.microsoft.com/office/drawing/2014/main" xmlns="" id="{AEDB557B-883F-B642-8577-6498598B70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33" b="11427"/>
          <a:stretch/>
        </p:blipFill>
        <p:spPr bwMode="auto">
          <a:xfrm>
            <a:off x="3175" y="1540713"/>
            <a:ext cx="12188825" cy="4460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46C925-AD3C-084C-A393-173805EA7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940" y="1775977"/>
            <a:ext cx="9068586" cy="1580405"/>
          </a:xfrm>
        </p:spPr>
        <p:txBody>
          <a:bodyPr/>
          <a:lstStyle/>
          <a:p>
            <a:r>
              <a:rPr lang="en-US" sz="5400" cap="none" dirty="0" smtClean="0">
                <a:latin typeface="Arial Black"/>
              </a:rPr>
              <a:t>Elevator Call Response System</a:t>
            </a:r>
            <a:endParaRPr lang="x-none" sz="5400" cap="none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7F0DBAF-7D79-1641-9F57-35E40E2F3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1175" y="5326165"/>
            <a:ext cx="2350475" cy="885432"/>
          </a:xfrm>
        </p:spPr>
        <p:txBody>
          <a:bodyPr/>
          <a:lstStyle/>
          <a:p>
            <a:r>
              <a:rPr lang="en-US" sz="1200" dirty="0" err="1" smtClean="0"/>
              <a:t>Kazi</a:t>
            </a:r>
            <a:r>
              <a:rPr lang="en-US" sz="1200" dirty="0" smtClean="0"/>
              <a:t> </a:t>
            </a:r>
            <a:r>
              <a:rPr lang="en-US" sz="1200" dirty="0" err="1" smtClean="0"/>
              <a:t>Mubashir</a:t>
            </a:r>
            <a:r>
              <a:rPr lang="en-US" sz="1200" dirty="0" smtClean="0"/>
              <a:t> </a:t>
            </a:r>
            <a:r>
              <a:rPr lang="en-US" sz="1200" dirty="0" err="1" smtClean="0"/>
              <a:t>Tazwar</a:t>
            </a:r>
            <a:endParaRPr lang="x-none" sz="1200" dirty="0"/>
          </a:p>
          <a:p>
            <a:r>
              <a:rPr lang="x-none" sz="2000" dirty="0" smtClean="0"/>
              <a:t>1</a:t>
            </a:r>
            <a:r>
              <a:rPr lang="en-US" sz="2000" dirty="0" smtClean="0"/>
              <a:t>9</a:t>
            </a:r>
            <a:r>
              <a:rPr lang="x-none" sz="2000" dirty="0" smtClean="0"/>
              <a:t>06</a:t>
            </a:r>
            <a:r>
              <a:rPr lang="en-US" sz="2000" dirty="0" smtClean="0"/>
              <a:t>142</a:t>
            </a:r>
            <a:endParaRPr lang="x-none" sz="20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73D65FC9-0D80-444D-8239-028EF0E63ED0}"/>
              </a:ext>
            </a:extLst>
          </p:cNvPr>
          <p:cNvSpPr txBox="1">
            <a:spLocks/>
          </p:cNvSpPr>
          <p:nvPr/>
        </p:nvSpPr>
        <p:spPr>
          <a:xfrm>
            <a:off x="3863924" y="5326165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 smtClean="0"/>
              <a:t>Prantik</a:t>
            </a:r>
            <a:r>
              <a:rPr lang="en-US" sz="1200" dirty="0" smtClean="0"/>
              <a:t> Paul</a:t>
            </a:r>
            <a:endParaRPr lang="x-none" sz="1200" dirty="0"/>
          </a:p>
          <a:p>
            <a:r>
              <a:rPr lang="x-none" sz="2000" dirty="0" smtClean="0"/>
              <a:t>1</a:t>
            </a:r>
            <a:r>
              <a:rPr lang="en-US" sz="2000" dirty="0" smtClean="0"/>
              <a:t>9</a:t>
            </a:r>
            <a:r>
              <a:rPr lang="x-none" sz="2000" dirty="0" smtClean="0"/>
              <a:t>06</a:t>
            </a:r>
            <a:r>
              <a:rPr lang="en-US" sz="2000" dirty="0" smtClean="0"/>
              <a:t>145</a:t>
            </a:r>
            <a:endParaRPr lang="x-none" sz="20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C185C57D-A765-0B46-AE76-AD4244F426AB}"/>
              </a:ext>
            </a:extLst>
          </p:cNvPr>
          <p:cNvSpPr txBox="1">
            <a:spLocks/>
          </p:cNvSpPr>
          <p:nvPr/>
        </p:nvSpPr>
        <p:spPr>
          <a:xfrm>
            <a:off x="6117109" y="5333200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 smtClean="0"/>
              <a:t>Khondaker</a:t>
            </a:r>
            <a:r>
              <a:rPr lang="en-US" sz="1200" dirty="0" smtClean="0"/>
              <a:t> Nafis Ahmed</a:t>
            </a:r>
            <a:endParaRPr lang="x-none" sz="1200" dirty="0"/>
          </a:p>
          <a:p>
            <a:r>
              <a:rPr lang="x-none" sz="2000" dirty="0" smtClean="0"/>
              <a:t>1</a:t>
            </a:r>
            <a:r>
              <a:rPr lang="en-US" sz="2000" dirty="0" smtClean="0"/>
              <a:t>9</a:t>
            </a:r>
            <a:r>
              <a:rPr lang="x-none" sz="2000" dirty="0" smtClean="0"/>
              <a:t>06</a:t>
            </a:r>
            <a:r>
              <a:rPr lang="en-US" sz="2000" dirty="0" smtClean="0"/>
              <a:t>147</a:t>
            </a:r>
            <a:endParaRPr lang="x-none" sz="20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xmlns="" id="{C7A885CF-D2B7-2D4F-9C5B-F2B757DB520C}"/>
              </a:ext>
            </a:extLst>
          </p:cNvPr>
          <p:cNvSpPr txBox="1">
            <a:spLocks/>
          </p:cNvSpPr>
          <p:nvPr/>
        </p:nvSpPr>
        <p:spPr>
          <a:xfrm>
            <a:off x="8490051" y="5323751"/>
            <a:ext cx="2350475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 smtClean="0"/>
              <a:t>Manjur</a:t>
            </a:r>
            <a:r>
              <a:rPr lang="en-US" sz="1200" dirty="0" smtClean="0"/>
              <a:t> </a:t>
            </a:r>
            <a:r>
              <a:rPr lang="en-US" sz="1200" dirty="0" err="1" smtClean="0"/>
              <a:t>Muntasir</a:t>
            </a:r>
            <a:endParaRPr lang="x-none" sz="1200" dirty="0"/>
          </a:p>
          <a:p>
            <a:r>
              <a:rPr lang="x-none" sz="2000" dirty="0" smtClean="0"/>
              <a:t>1</a:t>
            </a:r>
            <a:r>
              <a:rPr lang="en-US" sz="2000" dirty="0" smtClean="0"/>
              <a:t>9</a:t>
            </a:r>
            <a:r>
              <a:rPr lang="x-none" sz="2000" dirty="0" smtClean="0"/>
              <a:t>06</a:t>
            </a:r>
            <a:r>
              <a:rPr lang="en-US" sz="2000" dirty="0" smtClean="0"/>
              <a:t>150</a:t>
            </a:r>
            <a:endParaRPr lang="x-none" sz="2000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xmlns="" id="{6D4ABD83-8F2E-FD4E-B18C-2299D6E2E152}"/>
              </a:ext>
            </a:extLst>
          </p:cNvPr>
          <p:cNvSpPr txBox="1">
            <a:spLocks/>
          </p:cNvSpPr>
          <p:nvPr/>
        </p:nvSpPr>
        <p:spPr>
          <a:xfrm>
            <a:off x="4884528" y="3554820"/>
            <a:ext cx="3033537" cy="885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 spc="8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x-none" cap="small" dirty="0"/>
              <a:t>Submitted by – </a:t>
            </a:r>
            <a:r>
              <a:rPr lang="x-none" cap="small" dirty="0" smtClean="0"/>
              <a:t>Group</a:t>
            </a:r>
            <a:r>
              <a:rPr lang="en-US" cap="small" dirty="0" smtClean="0"/>
              <a:t> 04</a:t>
            </a:r>
            <a:endParaRPr lang="x-none" sz="2800" cap="small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DB74ABDA-11C0-7C43-8041-3445AA68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07052" y="6236380"/>
            <a:ext cx="2111881" cy="379764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7184" y="41020"/>
            <a:ext cx="5897510" cy="457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EEE 304 – Digital Electronics Laboratory</a:t>
            </a: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081" y="3977483"/>
            <a:ext cx="1343463" cy="13462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0065"/>
          <a:stretch/>
        </p:blipFill>
        <p:spPr>
          <a:xfrm>
            <a:off x="4354890" y="3983106"/>
            <a:ext cx="1351179" cy="135009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763" y="3977483"/>
            <a:ext cx="1342302" cy="135358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8" t="5969" r="2104"/>
          <a:stretch/>
        </p:blipFill>
        <p:spPr>
          <a:xfrm>
            <a:off x="8993556" y="3997536"/>
            <a:ext cx="1343463" cy="134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46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3012B-84B9-7349-A96C-D843A369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E5899E-188D-E346-BD75-A52C25C2C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x-none" dirty="0"/>
              <a:t>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Introduction</a:t>
            </a:r>
            <a:endParaRPr lang="x-none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Design</a:t>
            </a:r>
            <a:endParaRPr lang="x-none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Implementation</a:t>
            </a:r>
            <a:endParaRPr lang="x-none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Analysis and Evaluation</a:t>
            </a:r>
            <a:endParaRPr lang="x-none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References</a:t>
            </a:r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016421-CA9E-E344-9555-2F9A2A51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2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A4EB6EC-D213-9F48-8356-86C62AC1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318 (2023)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9B0E6E-7910-2644-9BBD-C431B66B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6D63E29-E122-C943-83EC-9E431E6622E1}"/>
              </a:ext>
            </a:extLst>
          </p:cNvPr>
          <p:cNvSpPr txBox="1"/>
          <p:nvPr/>
        </p:nvSpPr>
        <p:spPr>
          <a:xfrm>
            <a:off x="7863840" y="2505670"/>
            <a:ext cx="3261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dirty="0">
                <a:solidFill>
                  <a:srgbClr val="0432FF"/>
                </a:solidFill>
              </a:rPr>
              <a:t>Feel free to change titles of the individual slides. Also, feel free to use smart art here to make it more attractive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8D7C807-C342-DCFF-233C-C458BCF3C512}"/>
              </a:ext>
            </a:extLst>
          </p:cNvPr>
          <p:cNvSpPr txBox="1"/>
          <p:nvPr/>
        </p:nvSpPr>
        <p:spPr>
          <a:xfrm>
            <a:off x="5736932" y="5939706"/>
            <a:ext cx="507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Make sure to change the footers</a:t>
            </a:r>
            <a:endParaRPr lang="x-none" dirty="0">
              <a:solidFill>
                <a:srgbClr val="0432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3D012D0-622C-46B2-A624-4C1339C0A8E5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1906XXX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2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Summary / Abstract</a:t>
            </a:r>
            <a:endParaRPr lang="x-non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51B2C38B-4AC5-9248-B4C6-67239E72D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Explain </a:t>
            </a:r>
            <a:r>
              <a:rPr lang="en-US" dirty="0"/>
              <a:t>your project briefly</a:t>
            </a:r>
            <a:r>
              <a:rPr lang="x-none" dirty="0"/>
              <a:t>. </a:t>
            </a:r>
            <a:r>
              <a:rPr lang="en-GB" dirty="0"/>
              <a:t>A</a:t>
            </a:r>
            <a:r>
              <a:rPr lang="x-none" dirty="0"/>
              <a:t>dd pictures </a:t>
            </a:r>
            <a:r>
              <a:rPr lang="en-US" dirty="0"/>
              <a:t>of your final project </a:t>
            </a:r>
            <a:r>
              <a:rPr lang="x-none" dirty="0"/>
              <a:t>in the slide to help explain better.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3</a:t>
            </a:fld>
            <a:endParaRPr lang="x-non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4FC492C-855C-BBBD-E10E-4FA0A9234E1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55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Introduction</a:t>
            </a:r>
            <a:endParaRPr lang="x-non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4</a:t>
            </a:fld>
            <a:endParaRPr lang="x-non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B4113EF-FC58-6A2C-48BE-FBF99C4B1ED7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82A3D3B2-1527-763A-C6F5-DC03E21A8119}"/>
              </a:ext>
            </a:extLst>
          </p:cNvPr>
          <p:cNvSpPr/>
          <p:nvPr/>
        </p:nvSpPr>
        <p:spPr>
          <a:xfrm>
            <a:off x="566420" y="2178884"/>
            <a:ext cx="2377440" cy="3515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5">
            <a:extLst>
              <a:ext uri="{FF2B5EF4-FFF2-40B4-BE49-F238E27FC236}">
                <a16:creationId xmlns="" xmlns:a16="http://schemas.microsoft.com/office/drawing/2014/main" id="{BDA6628B-D3D1-2CA1-274F-272B4DCD6E03}"/>
              </a:ext>
            </a:extLst>
          </p:cNvPr>
          <p:cNvSpPr/>
          <p:nvPr/>
        </p:nvSpPr>
        <p:spPr>
          <a:xfrm>
            <a:off x="1000760" y="2463364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8">
            <a:extLst>
              <a:ext uri="{FF2B5EF4-FFF2-40B4-BE49-F238E27FC236}">
                <a16:creationId xmlns="" xmlns:a16="http://schemas.microsoft.com/office/drawing/2014/main" id="{C65F51AA-7A66-042E-20D0-FA61CF7FF564}"/>
              </a:ext>
            </a:extLst>
          </p:cNvPr>
          <p:cNvSpPr/>
          <p:nvPr/>
        </p:nvSpPr>
        <p:spPr>
          <a:xfrm>
            <a:off x="1000760" y="3072963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9">
            <a:extLst>
              <a:ext uri="{FF2B5EF4-FFF2-40B4-BE49-F238E27FC236}">
                <a16:creationId xmlns="" xmlns:a16="http://schemas.microsoft.com/office/drawing/2014/main" id="{95AF6CDA-634C-9CCF-2F42-C4B322A88348}"/>
              </a:ext>
            </a:extLst>
          </p:cNvPr>
          <p:cNvSpPr/>
          <p:nvPr/>
        </p:nvSpPr>
        <p:spPr>
          <a:xfrm>
            <a:off x="1000760" y="3682563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0">
            <a:extLst>
              <a:ext uri="{FF2B5EF4-FFF2-40B4-BE49-F238E27FC236}">
                <a16:creationId xmlns="" xmlns:a16="http://schemas.microsoft.com/office/drawing/2014/main" id="{59D8D2F1-7905-486B-DEA1-5F7ECE4624E2}"/>
              </a:ext>
            </a:extLst>
          </p:cNvPr>
          <p:cNvSpPr/>
          <p:nvPr/>
        </p:nvSpPr>
        <p:spPr>
          <a:xfrm>
            <a:off x="1000760" y="4292163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1">
            <a:extLst>
              <a:ext uri="{FF2B5EF4-FFF2-40B4-BE49-F238E27FC236}">
                <a16:creationId xmlns="" xmlns:a16="http://schemas.microsoft.com/office/drawing/2014/main" id="{39DF8DF1-07C8-6DAF-3CA6-94A74BAD5E49}"/>
              </a:ext>
            </a:extLst>
          </p:cNvPr>
          <p:cNvSpPr/>
          <p:nvPr/>
        </p:nvSpPr>
        <p:spPr>
          <a:xfrm>
            <a:off x="990600" y="4901763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Up 12">
            <a:extLst>
              <a:ext uri="{FF2B5EF4-FFF2-40B4-BE49-F238E27FC236}">
                <a16:creationId xmlns="" xmlns:a16="http://schemas.microsoft.com/office/drawing/2014/main" id="{F236E309-F9EC-96D9-98C1-42561ADEAE4A}"/>
              </a:ext>
            </a:extLst>
          </p:cNvPr>
          <p:cNvSpPr/>
          <p:nvPr/>
        </p:nvSpPr>
        <p:spPr>
          <a:xfrm>
            <a:off x="2334260" y="5003364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F530CF07-48CB-6B15-D83F-5DF8F462B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90" y="2518853"/>
            <a:ext cx="403539" cy="440953"/>
          </a:xfrm>
          <a:prstGeom prst="rect">
            <a:avLst/>
          </a:prstGeom>
        </p:spPr>
      </p:pic>
      <p:sp>
        <p:nvSpPr>
          <p:cNvPr id="19" name="Arrow: Up 14">
            <a:extLst>
              <a:ext uri="{FF2B5EF4-FFF2-40B4-BE49-F238E27FC236}">
                <a16:creationId xmlns="" xmlns:a16="http://schemas.microsoft.com/office/drawing/2014/main" id="{A485A1A5-6780-9B22-025A-C28A7ACB16C7}"/>
              </a:ext>
            </a:extLst>
          </p:cNvPr>
          <p:cNvSpPr/>
          <p:nvPr/>
        </p:nvSpPr>
        <p:spPr>
          <a:xfrm rot="10800000">
            <a:off x="2538175" y="2577843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AE081E79-B944-575E-B6DB-00223D858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90" y="3710149"/>
            <a:ext cx="403539" cy="440953"/>
          </a:xfrm>
          <a:prstGeom prst="rect">
            <a:avLst/>
          </a:prstGeom>
        </p:spPr>
      </p:pic>
      <p:sp>
        <p:nvSpPr>
          <p:cNvPr id="21" name="Arrow: Up 16">
            <a:extLst>
              <a:ext uri="{FF2B5EF4-FFF2-40B4-BE49-F238E27FC236}">
                <a16:creationId xmlns="" xmlns:a16="http://schemas.microsoft.com/office/drawing/2014/main" id="{B1FD4EC5-ECC7-340F-20CD-637BCA5168AB}"/>
              </a:ext>
            </a:extLst>
          </p:cNvPr>
          <p:cNvSpPr/>
          <p:nvPr/>
        </p:nvSpPr>
        <p:spPr>
          <a:xfrm>
            <a:off x="2538175" y="3769139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1E41323-2761-3FB9-5415-A7433C78E17A}"/>
              </a:ext>
            </a:extLst>
          </p:cNvPr>
          <p:cNvSpPr/>
          <p:nvPr/>
        </p:nvSpPr>
        <p:spPr>
          <a:xfrm>
            <a:off x="3496363" y="2168151"/>
            <a:ext cx="2377440" cy="35153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18">
            <a:extLst>
              <a:ext uri="{FF2B5EF4-FFF2-40B4-BE49-F238E27FC236}">
                <a16:creationId xmlns="" xmlns:a16="http://schemas.microsoft.com/office/drawing/2014/main" id="{328C84F0-5B59-952E-7780-F23F05F6C6D6}"/>
              </a:ext>
            </a:extLst>
          </p:cNvPr>
          <p:cNvSpPr/>
          <p:nvPr/>
        </p:nvSpPr>
        <p:spPr>
          <a:xfrm>
            <a:off x="3930703" y="2452631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19">
            <a:extLst>
              <a:ext uri="{FF2B5EF4-FFF2-40B4-BE49-F238E27FC236}">
                <a16:creationId xmlns="" xmlns:a16="http://schemas.microsoft.com/office/drawing/2014/main" id="{97B0E2F6-ED25-12C7-F0F3-AA66D19D748C}"/>
              </a:ext>
            </a:extLst>
          </p:cNvPr>
          <p:cNvSpPr/>
          <p:nvPr/>
        </p:nvSpPr>
        <p:spPr>
          <a:xfrm>
            <a:off x="3930703" y="3062230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0">
            <a:extLst>
              <a:ext uri="{FF2B5EF4-FFF2-40B4-BE49-F238E27FC236}">
                <a16:creationId xmlns="" xmlns:a16="http://schemas.microsoft.com/office/drawing/2014/main" id="{CA4F47BF-3891-8854-9A0A-87EA6C42B341}"/>
              </a:ext>
            </a:extLst>
          </p:cNvPr>
          <p:cNvSpPr/>
          <p:nvPr/>
        </p:nvSpPr>
        <p:spPr>
          <a:xfrm>
            <a:off x="3930703" y="3671830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1">
            <a:extLst>
              <a:ext uri="{FF2B5EF4-FFF2-40B4-BE49-F238E27FC236}">
                <a16:creationId xmlns="" xmlns:a16="http://schemas.microsoft.com/office/drawing/2014/main" id="{F35374C1-294A-B442-EA84-A3CE6BD6B2E8}"/>
              </a:ext>
            </a:extLst>
          </p:cNvPr>
          <p:cNvSpPr/>
          <p:nvPr/>
        </p:nvSpPr>
        <p:spPr>
          <a:xfrm>
            <a:off x="3930703" y="4281430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2">
            <a:extLst>
              <a:ext uri="{FF2B5EF4-FFF2-40B4-BE49-F238E27FC236}">
                <a16:creationId xmlns="" xmlns:a16="http://schemas.microsoft.com/office/drawing/2014/main" id="{0E724870-2835-9411-71A4-AD71C62B0878}"/>
              </a:ext>
            </a:extLst>
          </p:cNvPr>
          <p:cNvSpPr/>
          <p:nvPr/>
        </p:nvSpPr>
        <p:spPr>
          <a:xfrm>
            <a:off x="3920544" y="4891030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Up 23">
            <a:extLst>
              <a:ext uri="{FF2B5EF4-FFF2-40B4-BE49-F238E27FC236}">
                <a16:creationId xmlns="" xmlns:a16="http://schemas.microsoft.com/office/drawing/2014/main" id="{C3497DFD-DE43-B80B-5F60-52D8392D078E}"/>
              </a:ext>
            </a:extLst>
          </p:cNvPr>
          <p:cNvSpPr/>
          <p:nvPr/>
        </p:nvSpPr>
        <p:spPr>
          <a:xfrm>
            <a:off x="5264203" y="4992631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A5A66A89-C2CB-E700-F6BD-96933CA9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034" y="2508120"/>
            <a:ext cx="403539" cy="440953"/>
          </a:xfrm>
          <a:prstGeom prst="rect">
            <a:avLst/>
          </a:prstGeom>
        </p:spPr>
      </p:pic>
      <p:sp>
        <p:nvSpPr>
          <p:cNvPr id="30" name="Arrow: Up 25">
            <a:extLst>
              <a:ext uri="{FF2B5EF4-FFF2-40B4-BE49-F238E27FC236}">
                <a16:creationId xmlns="" xmlns:a16="http://schemas.microsoft.com/office/drawing/2014/main" id="{8CBC3B3A-6558-FD1F-416E-2FF772894969}"/>
              </a:ext>
            </a:extLst>
          </p:cNvPr>
          <p:cNvSpPr/>
          <p:nvPr/>
        </p:nvSpPr>
        <p:spPr>
          <a:xfrm rot="10800000">
            <a:off x="5468119" y="2567110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A8843685-1C00-F7E9-0EF5-37162A8B6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034" y="3699416"/>
            <a:ext cx="403539" cy="440953"/>
          </a:xfrm>
          <a:prstGeom prst="rect">
            <a:avLst/>
          </a:prstGeom>
        </p:spPr>
      </p:pic>
      <p:sp>
        <p:nvSpPr>
          <p:cNvPr id="32" name="Arrow: Up 27">
            <a:extLst>
              <a:ext uri="{FF2B5EF4-FFF2-40B4-BE49-F238E27FC236}">
                <a16:creationId xmlns="" xmlns:a16="http://schemas.microsoft.com/office/drawing/2014/main" id="{5927E4A0-8250-5C56-9CA6-D9A0A100353F}"/>
              </a:ext>
            </a:extLst>
          </p:cNvPr>
          <p:cNvSpPr/>
          <p:nvPr/>
        </p:nvSpPr>
        <p:spPr>
          <a:xfrm rot="10800000">
            <a:off x="5468119" y="3758406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59D78BB4-B2B3-7B07-7BC4-CDB3271B393E}"/>
              </a:ext>
            </a:extLst>
          </p:cNvPr>
          <p:cNvSpPr/>
          <p:nvPr/>
        </p:nvSpPr>
        <p:spPr>
          <a:xfrm>
            <a:off x="6415575" y="2178884"/>
            <a:ext cx="2377440" cy="3515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29">
            <a:extLst>
              <a:ext uri="{FF2B5EF4-FFF2-40B4-BE49-F238E27FC236}">
                <a16:creationId xmlns="" xmlns:a16="http://schemas.microsoft.com/office/drawing/2014/main" id="{2C08F7DC-3154-CD74-F21F-00898F664EBA}"/>
              </a:ext>
            </a:extLst>
          </p:cNvPr>
          <p:cNvSpPr/>
          <p:nvPr/>
        </p:nvSpPr>
        <p:spPr>
          <a:xfrm>
            <a:off x="6849915" y="2463364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0">
            <a:extLst>
              <a:ext uri="{FF2B5EF4-FFF2-40B4-BE49-F238E27FC236}">
                <a16:creationId xmlns="" xmlns:a16="http://schemas.microsoft.com/office/drawing/2014/main" id="{8946909E-6A00-3ABC-FA55-34A9AF4EAAA4}"/>
              </a:ext>
            </a:extLst>
          </p:cNvPr>
          <p:cNvSpPr/>
          <p:nvPr/>
        </p:nvSpPr>
        <p:spPr>
          <a:xfrm>
            <a:off x="6849915" y="3072963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1">
            <a:extLst>
              <a:ext uri="{FF2B5EF4-FFF2-40B4-BE49-F238E27FC236}">
                <a16:creationId xmlns="" xmlns:a16="http://schemas.microsoft.com/office/drawing/2014/main" id="{7C88F176-2893-F5AF-C9CA-6F2D8E50C770}"/>
              </a:ext>
            </a:extLst>
          </p:cNvPr>
          <p:cNvSpPr/>
          <p:nvPr/>
        </p:nvSpPr>
        <p:spPr>
          <a:xfrm>
            <a:off x="6849915" y="3682563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2">
            <a:extLst>
              <a:ext uri="{FF2B5EF4-FFF2-40B4-BE49-F238E27FC236}">
                <a16:creationId xmlns="" xmlns:a16="http://schemas.microsoft.com/office/drawing/2014/main" id="{430F1DAA-639A-13E6-206E-BC0B4038513C}"/>
              </a:ext>
            </a:extLst>
          </p:cNvPr>
          <p:cNvSpPr/>
          <p:nvPr/>
        </p:nvSpPr>
        <p:spPr>
          <a:xfrm>
            <a:off x="6849915" y="4292163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3">
            <a:extLst>
              <a:ext uri="{FF2B5EF4-FFF2-40B4-BE49-F238E27FC236}">
                <a16:creationId xmlns="" xmlns:a16="http://schemas.microsoft.com/office/drawing/2014/main" id="{E26ECEE7-DD7F-C0CE-98DF-C3D2130A7BD3}"/>
              </a:ext>
            </a:extLst>
          </p:cNvPr>
          <p:cNvSpPr/>
          <p:nvPr/>
        </p:nvSpPr>
        <p:spPr>
          <a:xfrm>
            <a:off x="6839755" y="4901763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Up 34">
            <a:extLst>
              <a:ext uri="{FF2B5EF4-FFF2-40B4-BE49-F238E27FC236}">
                <a16:creationId xmlns="" xmlns:a16="http://schemas.microsoft.com/office/drawing/2014/main" id="{E2B40D72-84A2-51ED-799C-898C85456DBC}"/>
              </a:ext>
            </a:extLst>
          </p:cNvPr>
          <p:cNvSpPr/>
          <p:nvPr/>
        </p:nvSpPr>
        <p:spPr>
          <a:xfrm>
            <a:off x="8151218" y="3758406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1FDF68E0-10FE-E02F-1545-E8814FD5A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45" y="2518853"/>
            <a:ext cx="403539" cy="440953"/>
          </a:xfrm>
          <a:prstGeom prst="rect">
            <a:avLst/>
          </a:prstGeom>
        </p:spPr>
      </p:pic>
      <p:sp>
        <p:nvSpPr>
          <p:cNvPr id="41" name="Arrow: Up 36">
            <a:extLst>
              <a:ext uri="{FF2B5EF4-FFF2-40B4-BE49-F238E27FC236}">
                <a16:creationId xmlns="" xmlns:a16="http://schemas.microsoft.com/office/drawing/2014/main" id="{CCCDCA47-B551-DB94-80B0-0D927E35DC4D}"/>
              </a:ext>
            </a:extLst>
          </p:cNvPr>
          <p:cNvSpPr/>
          <p:nvPr/>
        </p:nvSpPr>
        <p:spPr>
          <a:xfrm rot="10800000">
            <a:off x="8387330" y="2577843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6B75DE99-3370-B55A-CA11-4962E226A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45" y="4343360"/>
            <a:ext cx="403539" cy="440953"/>
          </a:xfrm>
          <a:prstGeom prst="rect">
            <a:avLst/>
          </a:prstGeom>
        </p:spPr>
      </p:pic>
      <p:sp>
        <p:nvSpPr>
          <p:cNvPr id="43" name="Arrow: Up 38">
            <a:extLst>
              <a:ext uri="{FF2B5EF4-FFF2-40B4-BE49-F238E27FC236}">
                <a16:creationId xmlns="" xmlns:a16="http://schemas.microsoft.com/office/drawing/2014/main" id="{C8A73E89-6149-F0A2-5554-91975C217A02}"/>
              </a:ext>
            </a:extLst>
          </p:cNvPr>
          <p:cNvSpPr/>
          <p:nvPr/>
        </p:nvSpPr>
        <p:spPr>
          <a:xfrm>
            <a:off x="8387330" y="4413083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651A4CA8-D87E-F111-9D64-D3170DE85012}"/>
              </a:ext>
            </a:extLst>
          </p:cNvPr>
          <p:cNvSpPr/>
          <p:nvPr/>
        </p:nvSpPr>
        <p:spPr>
          <a:xfrm>
            <a:off x="9345519" y="2178884"/>
            <a:ext cx="2377440" cy="35153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51">
            <a:extLst>
              <a:ext uri="{FF2B5EF4-FFF2-40B4-BE49-F238E27FC236}">
                <a16:creationId xmlns="" xmlns:a16="http://schemas.microsoft.com/office/drawing/2014/main" id="{3CB0BDD9-EDD9-FB81-40B3-66E08ACA1BBB}"/>
              </a:ext>
            </a:extLst>
          </p:cNvPr>
          <p:cNvSpPr/>
          <p:nvPr/>
        </p:nvSpPr>
        <p:spPr>
          <a:xfrm>
            <a:off x="9779859" y="2463364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52">
            <a:extLst>
              <a:ext uri="{FF2B5EF4-FFF2-40B4-BE49-F238E27FC236}">
                <a16:creationId xmlns="" xmlns:a16="http://schemas.microsoft.com/office/drawing/2014/main" id="{C020675B-6AA1-7FD7-EAC2-E2F4D4563FD8}"/>
              </a:ext>
            </a:extLst>
          </p:cNvPr>
          <p:cNvSpPr/>
          <p:nvPr/>
        </p:nvSpPr>
        <p:spPr>
          <a:xfrm>
            <a:off x="9779859" y="3072963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53">
            <a:extLst>
              <a:ext uri="{FF2B5EF4-FFF2-40B4-BE49-F238E27FC236}">
                <a16:creationId xmlns="" xmlns:a16="http://schemas.microsoft.com/office/drawing/2014/main" id="{8DFC70AD-C685-94B7-0F14-ECA38B717D5D}"/>
              </a:ext>
            </a:extLst>
          </p:cNvPr>
          <p:cNvSpPr/>
          <p:nvPr/>
        </p:nvSpPr>
        <p:spPr>
          <a:xfrm>
            <a:off x="9779859" y="3682563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54">
            <a:extLst>
              <a:ext uri="{FF2B5EF4-FFF2-40B4-BE49-F238E27FC236}">
                <a16:creationId xmlns="" xmlns:a16="http://schemas.microsoft.com/office/drawing/2014/main" id="{8A271072-3E72-F73C-3EC8-B378E2FAAEB1}"/>
              </a:ext>
            </a:extLst>
          </p:cNvPr>
          <p:cNvSpPr/>
          <p:nvPr/>
        </p:nvSpPr>
        <p:spPr>
          <a:xfrm>
            <a:off x="9779859" y="4292163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55">
            <a:extLst>
              <a:ext uri="{FF2B5EF4-FFF2-40B4-BE49-F238E27FC236}">
                <a16:creationId xmlns="" xmlns:a16="http://schemas.microsoft.com/office/drawing/2014/main" id="{3EF68807-AC08-6DEB-915B-73C080717FCC}"/>
              </a:ext>
            </a:extLst>
          </p:cNvPr>
          <p:cNvSpPr/>
          <p:nvPr/>
        </p:nvSpPr>
        <p:spPr>
          <a:xfrm>
            <a:off x="9769698" y="4901763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Up 56">
            <a:extLst>
              <a:ext uri="{FF2B5EF4-FFF2-40B4-BE49-F238E27FC236}">
                <a16:creationId xmlns="" xmlns:a16="http://schemas.microsoft.com/office/drawing/2014/main" id="{79F06BAB-425F-F36C-CC0D-79727C44EBFB}"/>
              </a:ext>
            </a:extLst>
          </p:cNvPr>
          <p:cNvSpPr/>
          <p:nvPr/>
        </p:nvSpPr>
        <p:spPr>
          <a:xfrm>
            <a:off x="11081162" y="3758406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392448C2-E0F9-9F0D-3EC9-07EE310DF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9189" y="2518853"/>
            <a:ext cx="403539" cy="440953"/>
          </a:xfrm>
          <a:prstGeom prst="rect">
            <a:avLst/>
          </a:prstGeom>
        </p:spPr>
      </p:pic>
      <p:sp>
        <p:nvSpPr>
          <p:cNvPr id="52" name="Arrow: Up 58">
            <a:extLst>
              <a:ext uri="{FF2B5EF4-FFF2-40B4-BE49-F238E27FC236}">
                <a16:creationId xmlns="" xmlns:a16="http://schemas.microsoft.com/office/drawing/2014/main" id="{12A16063-BC77-DE9A-398E-0D69A1C2F9B2}"/>
              </a:ext>
            </a:extLst>
          </p:cNvPr>
          <p:cNvSpPr/>
          <p:nvPr/>
        </p:nvSpPr>
        <p:spPr>
          <a:xfrm rot="10800000">
            <a:off x="11317274" y="2577843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B5FE9D60-18C9-B401-5916-C36269C13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9189" y="4343360"/>
            <a:ext cx="403539" cy="440953"/>
          </a:xfrm>
          <a:prstGeom prst="rect">
            <a:avLst/>
          </a:prstGeom>
        </p:spPr>
      </p:pic>
      <p:sp>
        <p:nvSpPr>
          <p:cNvPr id="54" name="Arrow: Up 60">
            <a:extLst>
              <a:ext uri="{FF2B5EF4-FFF2-40B4-BE49-F238E27FC236}">
                <a16:creationId xmlns="" xmlns:a16="http://schemas.microsoft.com/office/drawing/2014/main" id="{C38F9FD0-65F0-DB8D-61F8-4DEFA7A23433}"/>
              </a:ext>
            </a:extLst>
          </p:cNvPr>
          <p:cNvSpPr/>
          <p:nvPr/>
        </p:nvSpPr>
        <p:spPr>
          <a:xfrm rot="10800000">
            <a:off x="11317274" y="4413083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="" xmlns:a16="http://schemas.microsoft.com/office/drawing/2014/main" id="{EDF2F9D5-380A-41FF-A929-1042F5698F28}"/>
              </a:ext>
            </a:extLst>
          </p:cNvPr>
          <p:cNvSpPr/>
          <p:nvPr/>
        </p:nvSpPr>
        <p:spPr>
          <a:xfrm>
            <a:off x="956257" y="1609746"/>
            <a:ext cx="1599126" cy="3863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cs typeface="Calibri"/>
              </a:rPr>
              <a:t>Case - 1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="" xmlns:a16="http://schemas.microsoft.com/office/drawing/2014/main" id="{4DB9172D-D788-F9C3-8340-0DAAF53FEFDA}"/>
              </a:ext>
            </a:extLst>
          </p:cNvPr>
          <p:cNvSpPr/>
          <p:nvPr/>
        </p:nvSpPr>
        <p:spPr>
          <a:xfrm>
            <a:off x="3886201" y="1609746"/>
            <a:ext cx="1599126" cy="3863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cs typeface="Calibri"/>
              </a:rPr>
              <a:t>Case - 2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6FC4E433-C103-21F7-786F-319B5A5E1A33}"/>
              </a:ext>
            </a:extLst>
          </p:cNvPr>
          <p:cNvSpPr/>
          <p:nvPr/>
        </p:nvSpPr>
        <p:spPr>
          <a:xfrm>
            <a:off x="6805412" y="1609746"/>
            <a:ext cx="1599126" cy="3863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cs typeface="Calibri"/>
              </a:rPr>
              <a:t>Case - 3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="" xmlns:a16="http://schemas.microsoft.com/office/drawing/2014/main" id="{957783E1-9533-8B13-2DFD-48C5D5C30FF1}"/>
              </a:ext>
            </a:extLst>
          </p:cNvPr>
          <p:cNvSpPr/>
          <p:nvPr/>
        </p:nvSpPr>
        <p:spPr>
          <a:xfrm>
            <a:off x="9735355" y="1609746"/>
            <a:ext cx="1599126" cy="3863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cs typeface="Calibri"/>
              </a:rPr>
              <a:t>Case - 4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69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Introduction</a:t>
            </a:r>
            <a:endParaRPr lang="x-non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5</a:t>
            </a:fld>
            <a:endParaRPr lang="x-non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B4113EF-FC58-6A2C-48BE-FBF99C4B1ED7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83" name="Content Placeholder 5">
            <a:extLst>
              <a:ext uri="{FF2B5EF4-FFF2-40B4-BE49-F238E27FC236}">
                <a16:creationId xmlns="" xmlns:a16="http://schemas.microsoft.com/office/drawing/2014/main" id="{49896E46-0576-80F3-4406-2C63B4D31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6310" y="1524041"/>
            <a:ext cx="795889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u="sng">
                <a:cs typeface="Calibri"/>
              </a:rPr>
              <a:t>Flow diagram:</a:t>
            </a:r>
            <a:endParaRPr lang="en-US" b="1" u="sng"/>
          </a:p>
          <a:p>
            <a:pPr marL="0" indent="0">
              <a:buNone/>
            </a:pPr>
            <a:endParaRPr lang="en-US" b="1" u="sng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="" xmlns:a16="http://schemas.microsoft.com/office/drawing/2014/main" id="{296E22A0-4A61-B60B-7006-47C17866FEA5}"/>
              </a:ext>
            </a:extLst>
          </p:cNvPr>
          <p:cNvSpPr/>
          <p:nvPr/>
        </p:nvSpPr>
        <p:spPr>
          <a:xfrm>
            <a:off x="498241" y="2362208"/>
            <a:ext cx="2377440" cy="3515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: Rounded Corners 9">
            <a:extLst>
              <a:ext uri="{FF2B5EF4-FFF2-40B4-BE49-F238E27FC236}">
                <a16:creationId xmlns="" xmlns:a16="http://schemas.microsoft.com/office/drawing/2014/main" id="{5C2E0535-6E63-452E-DE12-A28710170067}"/>
              </a:ext>
            </a:extLst>
          </p:cNvPr>
          <p:cNvSpPr/>
          <p:nvPr/>
        </p:nvSpPr>
        <p:spPr>
          <a:xfrm>
            <a:off x="932581" y="2646688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: Rounded Corners 11">
            <a:extLst>
              <a:ext uri="{FF2B5EF4-FFF2-40B4-BE49-F238E27FC236}">
                <a16:creationId xmlns="" xmlns:a16="http://schemas.microsoft.com/office/drawing/2014/main" id="{CE36DA13-CEBF-AB5D-7099-B739C391EFF7}"/>
              </a:ext>
            </a:extLst>
          </p:cNvPr>
          <p:cNvSpPr/>
          <p:nvPr/>
        </p:nvSpPr>
        <p:spPr>
          <a:xfrm>
            <a:off x="932581" y="3256287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: Rounded Corners 13">
            <a:extLst>
              <a:ext uri="{FF2B5EF4-FFF2-40B4-BE49-F238E27FC236}">
                <a16:creationId xmlns="" xmlns:a16="http://schemas.microsoft.com/office/drawing/2014/main" id="{3E1C605A-8C2B-B279-553A-AA726E233BE1}"/>
              </a:ext>
            </a:extLst>
          </p:cNvPr>
          <p:cNvSpPr/>
          <p:nvPr/>
        </p:nvSpPr>
        <p:spPr>
          <a:xfrm>
            <a:off x="932581" y="3865887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: Rounded Corners 15">
            <a:extLst>
              <a:ext uri="{FF2B5EF4-FFF2-40B4-BE49-F238E27FC236}">
                <a16:creationId xmlns="" xmlns:a16="http://schemas.microsoft.com/office/drawing/2014/main" id="{96DD7A5B-8B54-AC48-37C2-E26DBE412D14}"/>
              </a:ext>
            </a:extLst>
          </p:cNvPr>
          <p:cNvSpPr/>
          <p:nvPr/>
        </p:nvSpPr>
        <p:spPr>
          <a:xfrm>
            <a:off x="932581" y="4475487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: Rounded Corners 17">
            <a:extLst>
              <a:ext uri="{FF2B5EF4-FFF2-40B4-BE49-F238E27FC236}">
                <a16:creationId xmlns="" xmlns:a16="http://schemas.microsoft.com/office/drawing/2014/main" id="{C901DBE0-BC8F-1FB8-9DAA-7EF2A0E56802}"/>
              </a:ext>
            </a:extLst>
          </p:cNvPr>
          <p:cNvSpPr/>
          <p:nvPr/>
        </p:nvSpPr>
        <p:spPr>
          <a:xfrm>
            <a:off x="922421" y="5085087"/>
            <a:ext cx="1178560" cy="56896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Arrow: Up 19">
            <a:extLst>
              <a:ext uri="{FF2B5EF4-FFF2-40B4-BE49-F238E27FC236}">
                <a16:creationId xmlns="" xmlns:a16="http://schemas.microsoft.com/office/drawing/2014/main" id="{4F24401D-2181-35F1-D1A5-43975A8C4F4C}"/>
              </a:ext>
            </a:extLst>
          </p:cNvPr>
          <p:cNvSpPr/>
          <p:nvPr/>
        </p:nvSpPr>
        <p:spPr>
          <a:xfrm>
            <a:off x="2266081" y="5186688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1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6D807821-B151-AAA4-FE73-B627A1430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911" y="2702177"/>
            <a:ext cx="403539" cy="440953"/>
          </a:xfrm>
          <a:prstGeom prst="rect">
            <a:avLst/>
          </a:prstGeom>
        </p:spPr>
      </p:pic>
      <p:sp>
        <p:nvSpPr>
          <p:cNvPr id="92" name="Arrow: Up 23">
            <a:extLst>
              <a:ext uri="{FF2B5EF4-FFF2-40B4-BE49-F238E27FC236}">
                <a16:creationId xmlns="" xmlns:a16="http://schemas.microsoft.com/office/drawing/2014/main" id="{BC15BDA1-116F-EADE-D98F-90A6DF1A3BB5}"/>
              </a:ext>
            </a:extLst>
          </p:cNvPr>
          <p:cNvSpPr/>
          <p:nvPr/>
        </p:nvSpPr>
        <p:spPr>
          <a:xfrm rot="10800000">
            <a:off x="2469996" y="2761167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530E2862-4B49-1F39-F729-4B74BC38C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911" y="3893473"/>
            <a:ext cx="403539" cy="440953"/>
          </a:xfrm>
          <a:prstGeom prst="rect">
            <a:avLst/>
          </a:prstGeom>
        </p:spPr>
      </p:pic>
      <p:sp>
        <p:nvSpPr>
          <p:cNvPr id="94" name="Arrow: Up 27">
            <a:extLst>
              <a:ext uri="{FF2B5EF4-FFF2-40B4-BE49-F238E27FC236}">
                <a16:creationId xmlns="" xmlns:a16="http://schemas.microsoft.com/office/drawing/2014/main" id="{329D23DA-3C28-7A93-9D40-A9E9B2D50217}"/>
              </a:ext>
            </a:extLst>
          </p:cNvPr>
          <p:cNvSpPr/>
          <p:nvPr/>
        </p:nvSpPr>
        <p:spPr>
          <a:xfrm>
            <a:off x="2469996" y="3952463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="" xmlns:a16="http://schemas.microsoft.com/office/drawing/2014/main" id="{E4EDF6B8-1636-E175-7A5E-F01C47FBC9EF}"/>
              </a:ext>
            </a:extLst>
          </p:cNvPr>
          <p:cNvSpPr/>
          <p:nvPr/>
        </p:nvSpPr>
        <p:spPr>
          <a:xfrm>
            <a:off x="797841" y="1612596"/>
            <a:ext cx="1599126" cy="3863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cs typeface="Calibri"/>
              </a:rPr>
              <a:t>Case - 1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96" name="Rectangle: Rounded Corners 30">
            <a:extLst>
              <a:ext uri="{FF2B5EF4-FFF2-40B4-BE49-F238E27FC236}">
                <a16:creationId xmlns="" xmlns:a16="http://schemas.microsoft.com/office/drawing/2014/main" id="{3857CD38-83B6-7638-C16C-F15E84E220DE}"/>
              </a:ext>
            </a:extLst>
          </p:cNvPr>
          <p:cNvSpPr/>
          <p:nvPr/>
        </p:nvSpPr>
        <p:spPr>
          <a:xfrm>
            <a:off x="3280610" y="2204995"/>
            <a:ext cx="2326105" cy="146384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Farthest floor will be detected(3,5 - </a:t>
            </a:r>
            <a:r>
              <a:rPr lang="en-GB" b="1">
                <a:solidFill>
                  <a:srgbClr val="FF0000"/>
                </a:solidFill>
                <a:cs typeface="Calibri"/>
              </a:rPr>
              <a:t>5</a:t>
            </a:r>
            <a:r>
              <a:rPr lang="en-GB">
                <a:solidFill>
                  <a:schemeClr val="tx1"/>
                </a:solidFill>
                <a:cs typeface="Calibri"/>
              </a:rPr>
              <a:t>)</a:t>
            </a:r>
          </a:p>
        </p:txBody>
      </p:sp>
      <p:sp>
        <p:nvSpPr>
          <p:cNvPr id="97" name="Arrow: Right 31">
            <a:extLst>
              <a:ext uri="{FF2B5EF4-FFF2-40B4-BE49-F238E27FC236}">
                <a16:creationId xmlns="" xmlns:a16="http://schemas.microsoft.com/office/drawing/2014/main" id="{B6F31115-0D2D-23A2-A370-C92674C25B47}"/>
              </a:ext>
            </a:extLst>
          </p:cNvPr>
          <p:cNvSpPr/>
          <p:nvPr/>
        </p:nvSpPr>
        <p:spPr>
          <a:xfrm>
            <a:off x="5777162" y="2756442"/>
            <a:ext cx="421105" cy="391026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: Rounded Corners 32">
            <a:extLst>
              <a:ext uri="{FF2B5EF4-FFF2-40B4-BE49-F238E27FC236}">
                <a16:creationId xmlns="" xmlns:a16="http://schemas.microsoft.com/office/drawing/2014/main" id="{EAC8C4E2-7153-6066-4231-2604FFCB7B40}"/>
              </a:ext>
            </a:extLst>
          </p:cNvPr>
          <p:cNvSpPr/>
          <p:nvPr/>
        </p:nvSpPr>
        <p:spPr>
          <a:xfrm>
            <a:off x="6308558" y="2215022"/>
            <a:ext cx="2426368" cy="1423736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Farthest floor(</a:t>
            </a:r>
            <a:r>
              <a:rPr lang="en-GB" b="1">
                <a:solidFill>
                  <a:srgbClr val="FF0000"/>
                </a:solidFill>
                <a:cs typeface="Calibri"/>
              </a:rPr>
              <a:t>5</a:t>
            </a:r>
            <a:r>
              <a:rPr lang="en-GB">
                <a:solidFill>
                  <a:schemeClr val="tx1"/>
                </a:solidFill>
                <a:cs typeface="Calibri"/>
              </a:rPr>
              <a:t>) will be compared to current floor(</a:t>
            </a:r>
            <a:r>
              <a:rPr lang="en-GB" b="1">
                <a:solidFill>
                  <a:srgbClr val="FF0000"/>
                </a:solidFill>
                <a:cs typeface="Calibri"/>
              </a:rPr>
              <a:t>1</a:t>
            </a:r>
            <a:r>
              <a:rPr lang="en-GB">
                <a:solidFill>
                  <a:schemeClr val="tx1"/>
                </a:solidFill>
                <a:cs typeface="Calibri"/>
              </a:rPr>
              <a:t>) by using a comparator </a:t>
            </a:r>
          </a:p>
        </p:txBody>
      </p:sp>
      <p:sp>
        <p:nvSpPr>
          <p:cNvPr id="99" name="Arrow: Right 33">
            <a:extLst>
              <a:ext uri="{FF2B5EF4-FFF2-40B4-BE49-F238E27FC236}">
                <a16:creationId xmlns="" xmlns:a16="http://schemas.microsoft.com/office/drawing/2014/main" id="{0FD5F7C0-97C4-3979-798A-B97BCC49B954}"/>
              </a:ext>
            </a:extLst>
          </p:cNvPr>
          <p:cNvSpPr/>
          <p:nvPr/>
        </p:nvSpPr>
        <p:spPr>
          <a:xfrm>
            <a:off x="8855241" y="2826626"/>
            <a:ext cx="350921" cy="3208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: Rounded Corners 34">
            <a:extLst>
              <a:ext uri="{FF2B5EF4-FFF2-40B4-BE49-F238E27FC236}">
                <a16:creationId xmlns="" xmlns:a16="http://schemas.microsoft.com/office/drawing/2014/main" id="{1AC42981-84BA-B765-6952-A73235DC5557}"/>
              </a:ext>
            </a:extLst>
          </p:cNvPr>
          <p:cNvSpPr/>
          <p:nvPr/>
        </p:nvSpPr>
        <p:spPr>
          <a:xfrm>
            <a:off x="9336505" y="2245101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Calibri"/>
              </a:rPr>
              <a:t>Determines that the </a:t>
            </a:r>
            <a:r>
              <a:rPr lang="en-GB" sz="1800">
                <a:solidFill>
                  <a:schemeClr val="tx1"/>
                </a:solidFill>
                <a:latin typeface="Calibri"/>
              </a:rPr>
              <a:t>direction of the lift</a:t>
            </a:r>
            <a:r>
              <a:rPr lang="en-GB">
                <a:solidFill>
                  <a:schemeClr val="tx1"/>
                </a:solidFill>
                <a:latin typeface="Calibri"/>
                <a:cs typeface="Calibri"/>
              </a:rPr>
              <a:t> will be</a:t>
            </a:r>
            <a:r>
              <a:rPr lang="en-GB" b="1">
                <a:solidFill>
                  <a:srgbClr val="FF0000"/>
                </a:solidFill>
                <a:latin typeface="Calibri"/>
                <a:cs typeface="Calibri"/>
              </a:rPr>
              <a:t> upwards</a:t>
            </a:r>
            <a:r>
              <a:rPr lang="en-GB" sz="18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​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101" name="Rectangle: Rounded Corners 37">
            <a:extLst>
              <a:ext uri="{FF2B5EF4-FFF2-40B4-BE49-F238E27FC236}">
                <a16:creationId xmlns="" xmlns:a16="http://schemas.microsoft.com/office/drawing/2014/main" id="{22C9C406-949D-1545-3119-0E673299C935}"/>
              </a:ext>
            </a:extLst>
          </p:cNvPr>
          <p:cNvSpPr/>
          <p:nvPr/>
        </p:nvSpPr>
        <p:spPr>
          <a:xfrm>
            <a:off x="9426741" y="4430837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Calibri"/>
              </a:rPr>
              <a:t>Another comparator</a:t>
            </a:r>
            <a:endParaRPr lang="en-GB">
              <a:solidFill>
                <a:schemeClr val="tx1"/>
              </a:solidFill>
              <a:latin typeface="Calibri"/>
              <a:cs typeface="Calibri"/>
            </a:endParaRPr>
          </a:p>
          <a:p>
            <a:pPr algn="ctr"/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Compares between current floor(</a:t>
            </a:r>
            <a:r>
              <a:rPr lang="en-GB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) and the other floor(3)</a:t>
            </a:r>
            <a:r>
              <a:rPr lang="en-GB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​</a:t>
            </a:r>
            <a:endParaRPr lang="en-GB">
              <a:solidFill>
                <a:schemeClr val="tx1"/>
              </a:solidFill>
              <a:cs typeface="Calibri"/>
            </a:endParaRPr>
          </a:p>
        </p:txBody>
      </p:sp>
      <p:sp>
        <p:nvSpPr>
          <p:cNvPr id="102" name="Rectangle: Rounded Corners 38">
            <a:extLst>
              <a:ext uri="{FF2B5EF4-FFF2-40B4-BE49-F238E27FC236}">
                <a16:creationId xmlns="" xmlns:a16="http://schemas.microsoft.com/office/drawing/2014/main" id="{716B3C41-5F16-8701-4038-E2A142D329B7}"/>
              </a:ext>
            </a:extLst>
          </p:cNvPr>
          <p:cNvSpPr/>
          <p:nvPr/>
        </p:nvSpPr>
        <p:spPr>
          <a:xfrm>
            <a:off x="6298531" y="4258349"/>
            <a:ext cx="2556709" cy="176871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cs typeface="Calibri"/>
              </a:rPr>
              <a:t>Current direction(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upwards</a:t>
            </a:r>
            <a:r>
              <a:rPr lang="en-GB" dirty="0">
                <a:solidFill>
                  <a:schemeClr val="tx1"/>
                </a:solidFill>
                <a:cs typeface="Calibri"/>
              </a:rPr>
              <a:t>) matches with floor of consideration's(3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-upward</a:t>
            </a:r>
            <a:r>
              <a:rPr lang="en-GB" dirty="0">
                <a:solidFill>
                  <a:schemeClr val="tx1"/>
                </a:solidFill>
                <a:cs typeface="Calibri"/>
              </a:rPr>
              <a:t>) direction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3" name="Rectangle: Rounded Corners 39">
            <a:extLst>
              <a:ext uri="{FF2B5EF4-FFF2-40B4-BE49-F238E27FC236}">
                <a16:creationId xmlns="" xmlns:a16="http://schemas.microsoft.com/office/drawing/2014/main" id="{BA61FDCD-423B-264C-8980-964ABC6DB348}"/>
              </a:ext>
            </a:extLst>
          </p:cNvPr>
          <p:cNvSpPr/>
          <p:nvPr/>
        </p:nvSpPr>
        <p:spPr>
          <a:xfrm>
            <a:off x="3170320" y="4430838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3rd floor call will be answered and will proceed to farthest(</a:t>
            </a:r>
            <a:r>
              <a:rPr lang="en-GB" b="1">
                <a:solidFill>
                  <a:srgbClr val="FF0000"/>
                </a:solidFill>
                <a:cs typeface="Calibri"/>
              </a:rPr>
              <a:t>5</a:t>
            </a:r>
            <a:r>
              <a:rPr lang="en-GB">
                <a:solidFill>
                  <a:schemeClr val="tx1"/>
                </a:solidFill>
                <a:cs typeface="Calibri"/>
              </a:rPr>
              <a:t>)</a:t>
            </a:r>
          </a:p>
        </p:txBody>
      </p:sp>
      <p:sp>
        <p:nvSpPr>
          <p:cNvPr id="104" name="Arrow: Down 40">
            <a:extLst>
              <a:ext uri="{FF2B5EF4-FFF2-40B4-BE49-F238E27FC236}">
                <a16:creationId xmlns="" xmlns:a16="http://schemas.microsoft.com/office/drawing/2014/main" id="{1DF5C233-1FE5-FC88-BC6B-AAD405BD59E2}"/>
              </a:ext>
            </a:extLst>
          </p:cNvPr>
          <p:cNvSpPr/>
          <p:nvPr/>
        </p:nvSpPr>
        <p:spPr>
          <a:xfrm>
            <a:off x="10529636" y="3839284"/>
            <a:ext cx="360947" cy="3810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Arrow: Left 41">
            <a:extLst>
              <a:ext uri="{FF2B5EF4-FFF2-40B4-BE49-F238E27FC236}">
                <a16:creationId xmlns="" xmlns:a16="http://schemas.microsoft.com/office/drawing/2014/main" id="{4FD879B5-EBF1-02CE-9F21-9D839CC5062A}"/>
              </a:ext>
            </a:extLst>
          </p:cNvPr>
          <p:cNvSpPr/>
          <p:nvPr/>
        </p:nvSpPr>
        <p:spPr>
          <a:xfrm>
            <a:off x="8905373" y="4992310"/>
            <a:ext cx="381000" cy="30078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Arrow: Left 42">
            <a:extLst>
              <a:ext uri="{FF2B5EF4-FFF2-40B4-BE49-F238E27FC236}">
                <a16:creationId xmlns="" xmlns:a16="http://schemas.microsoft.com/office/drawing/2014/main" id="{48C0ACC2-6D56-8FD4-DE0D-AB80B4D0B108}"/>
              </a:ext>
            </a:extLst>
          </p:cNvPr>
          <p:cNvSpPr/>
          <p:nvPr/>
        </p:nvSpPr>
        <p:spPr>
          <a:xfrm>
            <a:off x="5817267" y="4992310"/>
            <a:ext cx="381000" cy="30078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873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Introduction</a:t>
            </a:r>
            <a:endParaRPr lang="x-non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6</a:t>
            </a:fld>
            <a:endParaRPr lang="x-non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B4113EF-FC58-6A2C-48BE-FBF99C4B1ED7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F2798BBC-7FAA-F891-2E28-1F9711F64467}"/>
              </a:ext>
            </a:extLst>
          </p:cNvPr>
          <p:cNvSpPr/>
          <p:nvPr/>
        </p:nvSpPr>
        <p:spPr>
          <a:xfrm>
            <a:off x="528574" y="2282085"/>
            <a:ext cx="2377440" cy="351536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8">
            <a:extLst>
              <a:ext uri="{FF2B5EF4-FFF2-40B4-BE49-F238E27FC236}">
                <a16:creationId xmlns="" xmlns:a16="http://schemas.microsoft.com/office/drawing/2014/main" id="{6AC35E10-512D-D5F8-B3AE-7AF298D549D9}"/>
              </a:ext>
            </a:extLst>
          </p:cNvPr>
          <p:cNvSpPr/>
          <p:nvPr/>
        </p:nvSpPr>
        <p:spPr>
          <a:xfrm>
            <a:off x="962914" y="2566565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10">
            <a:extLst>
              <a:ext uri="{FF2B5EF4-FFF2-40B4-BE49-F238E27FC236}">
                <a16:creationId xmlns="" xmlns:a16="http://schemas.microsoft.com/office/drawing/2014/main" id="{8B10EF37-3166-7876-EE8C-652875E4FFB0}"/>
              </a:ext>
            </a:extLst>
          </p:cNvPr>
          <p:cNvSpPr/>
          <p:nvPr/>
        </p:nvSpPr>
        <p:spPr>
          <a:xfrm>
            <a:off x="962914" y="3176164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12">
            <a:extLst>
              <a:ext uri="{FF2B5EF4-FFF2-40B4-BE49-F238E27FC236}">
                <a16:creationId xmlns="" xmlns:a16="http://schemas.microsoft.com/office/drawing/2014/main" id="{05948FAF-A647-E36E-ADA9-F00063FA5690}"/>
              </a:ext>
            </a:extLst>
          </p:cNvPr>
          <p:cNvSpPr/>
          <p:nvPr/>
        </p:nvSpPr>
        <p:spPr>
          <a:xfrm>
            <a:off x="962914" y="3785764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14">
            <a:extLst>
              <a:ext uri="{FF2B5EF4-FFF2-40B4-BE49-F238E27FC236}">
                <a16:creationId xmlns="" xmlns:a16="http://schemas.microsoft.com/office/drawing/2014/main" id="{40F5BF03-71B7-B18B-C0B8-4138C537D68A}"/>
              </a:ext>
            </a:extLst>
          </p:cNvPr>
          <p:cNvSpPr/>
          <p:nvPr/>
        </p:nvSpPr>
        <p:spPr>
          <a:xfrm>
            <a:off x="962914" y="4395364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16">
            <a:extLst>
              <a:ext uri="{FF2B5EF4-FFF2-40B4-BE49-F238E27FC236}">
                <a16:creationId xmlns="" xmlns:a16="http://schemas.microsoft.com/office/drawing/2014/main" id="{09DF6A90-EAB5-4C22-916F-A0A23A901FFE}"/>
              </a:ext>
            </a:extLst>
          </p:cNvPr>
          <p:cNvSpPr/>
          <p:nvPr/>
        </p:nvSpPr>
        <p:spPr>
          <a:xfrm>
            <a:off x="952755" y="5004964"/>
            <a:ext cx="1178560" cy="56896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Up 18">
            <a:extLst>
              <a:ext uri="{FF2B5EF4-FFF2-40B4-BE49-F238E27FC236}">
                <a16:creationId xmlns="" xmlns:a16="http://schemas.microsoft.com/office/drawing/2014/main" id="{2532A009-B085-B37F-AB98-4C7B810DC5CF}"/>
              </a:ext>
            </a:extLst>
          </p:cNvPr>
          <p:cNvSpPr/>
          <p:nvPr/>
        </p:nvSpPr>
        <p:spPr>
          <a:xfrm>
            <a:off x="2296414" y="5106565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F9EC48F1-7B00-CDC3-F07F-C8A38F74D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45" y="2622054"/>
            <a:ext cx="403539" cy="440953"/>
          </a:xfrm>
          <a:prstGeom prst="rect">
            <a:avLst/>
          </a:prstGeom>
        </p:spPr>
      </p:pic>
      <p:sp>
        <p:nvSpPr>
          <p:cNvPr id="40" name="Arrow: Up 22">
            <a:extLst>
              <a:ext uri="{FF2B5EF4-FFF2-40B4-BE49-F238E27FC236}">
                <a16:creationId xmlns="" xmlns:a16="http://schemas.microsoft.com/office/drawing/2014/main" id="{6E98D0CB-5F8F-6323-9842-0D6AC60F341C}"/>
              </a:ext>
            </a:extLst>
          </p:cNvPr>
          <p:cNvSpPr/>
          <p:nvPr/>
        </p:nvSpPr>
        <p:spPr>
          <a:xfrm rot="10800000">
            <a:off x="2500330" y="2681044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6AFC0C47-5FBB-8EED-2573-04C2A3C57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45" y="3813350"/>
            <a:ext cx="403539" cy="440953"/>
          </a:xfrm>
          <a:prstGeom prst="rect">
            <a:avLst/>
          </a:prstGeom>
        </p:spPr>
      </p:pic>
      <p:sp>
        <p:nvSpPr>
          <p:cNvPr id="42" name="Arrow: Up 26">
            <a:extLst>
              <a:ext uri="{FF2B5EF4-FFF2-40B4-BE49-F238E27FC236}">
                <a16:creationId xmlns="" xmlns:a16="http://schemas.microsoft.com/office/drawing/2014/main" id="{003C561C-44E2-F8B8-F9F8-AFC45A604808}"/>
              </a:ext>
            </a:extLst>
          </p:cNvPr>
          <p:cNvSpPr/>
          <p:nvPr/>
        </p:nvSpPr>
        <p:spPr>
          <a:xfrm rot="10800000">
            <a:off x="2500330" y="3872340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0F78DAC8-AEA8-9900-F1C0-D9871CA9BEEF}"/>
              </a:ext>
            </a:extLst>
          </p:cNvPr>
          <p:cNvSpPr/>
          <p:nvPr/>
        </p:nvSpPr>
        <p:spPr>
          <a:xfrm>
            <a:off x="918412" y="1723680"/>
            <a:ext cx="1599126" cy="3863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cs typeface="Calibri"/>
              </a:rPr>
              <a:t>Case - 2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44" name="Content Placeholder 5">
            <a:extLst>
              <a:ext uri="{FF2B5EF4-FFF2-40B4-BE49-F238E27FC236}">
                <a16:creationId xmlns="" xmlns:a16="http://schemas.microsoft.com/office/drawing/2014/main" id="{D6A8EAC7-399C-0106-3C31-21A4ADBA3F8B}"/>
              </a:ext>
            </a:extLst>
          </p:cNvPr>
          <p:cNvSpPr txBox="1">
            <a:spLocks/>
          </p:cNvSpPr>
          <p:nvPr/>
        </p:nvSpPr>
        <p:spPr>
          <a:xfrm>
            <a:off x="3234489" y="1584993"/>
            <a:ext cx="795889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>
                <a:cs typeface="Calibri"/>
              </a:rPr>
              <a:t>Flow diagram:</a:t>
            </a:r>
            <a:endParaRPr lang="en-US" b="1" u="sng"/>
          </a:p>
          <a:p>
            <a:pPr marL="0" indent="0">
              <a:buFont typeface="Arial" panose="020B0604020202020204" pitchFamily="34" charset="0"/>
              <a:buNone/>
            </a:pPr>
            <a:endParaRPr lang="en-US" b="1" u="sng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5" name="Rectangle: Rounded Corners 34">
            <a:extLst>
              <a:ext uri="{FF2B5EF4-FFF2-40B4-BE49-F238E27FC236}">
                <a16:creationId xmlns="" xmlns:a16="http://schemas.microsoft.com/office/drawing/2014/main" id="{2734CAA9-154D-C8BB-2532-C8BCEA42FE87}"/>
              </a:ext>
            </a:extLst>
          </p:cNvPr>
          <p:cNvSpPr/>
          <p:nvPr/>
        </p:nvSpPr>
        <p:spPr>
          <a:xfrm>
            <a:off x="3348789" y="2265947"/>
            <a:ext cx="2326105" cy="146384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Farthest floor will be detected(3,5 - </a:t>
            </a:r>
            <a:r>
              <a:rPr lang="en-GB" b="1">
                <a:solidFill>
                  <a:srgbClr val="FF0000"/>
                </a:solidFill>
                <a:cs typeface="Calibri"/>
              </a:rPr>
              <a:t>5</a:t>
            </a:r>
            <a:r>
              <a:rPr lang="en-GB">
                <a:solidFill>
                  <a:schemeClr val="tx1"/>
                </a:solidFill>
                <a:cs typeface="Calibri"/>
              </a:rPr>
              <a:t>)</a:t>
            </a:r>
          </a:p>
        </p:txBody>
      </p:sp>
      <p:sp>
        <p:nvSpPr>
          <p:cNvPr id="46" name="Arrow: Right 36">
            <a:extLst>
              <a:ext uri="{FF2B5EF4-FFF2-40B4-BE49-F238E27FC236}">
                <a16:creationId xmlns="" xmlns:a16="http://schemas.microsoft.com/office/drawing/2014/main" id="{87223BF7-C0D6-6487-D59B-481CFEEF8E0A}"/>
              </a:ext>
            </a:extLst>
          </p:cNvPr>
          <p:cNvSpPr/>
          <p:nvPr/>
        </p:nvSpPr>
        <p:spPr>
          <a:xfrm>
            <a:off x="5845341" y="2817394"/>
            <a:ext cx="421105" cy="391026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: Rounded Corners 38">
            <a:extLst>
              <a:ext uri="{FF2B5EF4-FFF2-40B4-BE49-F238E27FC236}">
                <a16:creationId xmlns="" xmlns:a16="http://schemas.microsoft.com/office/drawing/2014/main" id="{3C119FE8-A665-30E3-79C9-17339084FB71}"/>
              </a:ext>
            </a:extLst>
          </p:cNvPr>
          <p:cNvSpPr/>
          <p:nvPr/>
        </p:nvSpPr>
        <p:spPr>
          <a:xfrm>
            <a:off x="6376737" y="2275974"/>
            <a:ext cx="2426368" cy="1423736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Farthest floor(</a:t>
            </a:r>
            <a:r>
              <a:rPr lang="en-GB" b="1">
                <a:solidFill>
                  <a:srgbClr val="FF0000"/>
                </a:solidFill>
                <a:cs typeface="Calibri"/>
              </a:rPr>
              <a:t>5</a:t>
            </a:r>
            <a:r>
              <a:rPr lang="en-GB">
                <a:solidFill>
                  <a:schemeClr val="tx1"/>
                </a:solidFill>
                <a:cs typeface="Calibri"/>
              </a:rPr>
              <a:t>) will be compared to current floor(</a:t>
            </a:r>
            <a:r>
              <a:rPr lang="en-GB" b="1">
                <a:solidFill>
                  <a:srgbClr val="FF0000"/>
                </a:solidFill>
                <a:cs typeface="Calibri"/>
              </a:rPr>
              <a:t>1</a:t>
            </a:r>
            <a:r>
              <a:rPr lang="en-GB">
                <a:solidFill>
                  <a:schemeClr val="tx1"/>
                </a:solidFill>
                <a:cs typeface="Calibri"/>
              </a:rPr>
              <a:t>) by using a comparator </a:t>
            </a:r>
          </a:p>
        </p:txBody>
      </p:sp>
      <p:sp>
        <p:nvSpPr>
          <p:cNvPr id="48" name="Arrow: Right 40">
            <a:extLst>
              <a:ext uri="{FF2B5EF4-FFF2-40B4-BE49-F238E27FC236}">
                <a16:creationId xmlns="" xmlns:a16="http://schemas.microsoft.com/office/drawing/2014/main" id="{6244E8AD-3F14-5CAC-1D84-C1DF88058B5D}"/>
              </a:ext>
            </a:extLst>
          </p:cNvPr>
          <p:cNvSpPr/>
          <p:nvPr/>
        </p:nvSpPr>
        <p:spPr>
          <a:xfrm>
            <a:off x="8923420" y="2887578"/>
            <a:ext cx="350921" cy="3208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: Rounded Corners 42">
            <a:extLst>
              <a:ext uri="{FF2B5EF4-FFF2-40B4-BE49-F238E27FC236}">
                <a16:creationId xmlns="" xmlns:a16="http://schemas.microsoft.com/office/drawing/2014/main" id="{9AACF39A-998E-AD54-0B5C-E99495EDE822}"/>
              </a:ext>
            </a:extLst>
          </p:cNvPr>
          <p:cNvSpPr/>
          <p:nvPr/>
        </p:nvSpPr>
        <p:spPr>
          <a:xfrm>
            <a:off x="9404684" y="2306053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Calibri"/>
              </a:rPr>
              <a:t>Determines that the </a:t>
            </a:r>
            <a:r>
              <a:rPr lang="en-GB" sz="1800">
                <a:solidFill>
                  <a:schemeClr val="tx1"/>
                </a:solidFill>
                <a:latin typeface="Calibri"/>
              </a:rPr>
              <a:t>direction of the lift</a:t>
            </a:r>
            <a:r>
              <a:rPr lang="en-GB">
                <a:solidFill>
                  <a:schemeClr val="tx1"/>
                </a:solidFill>
                <a:latin typeface="Calibri"/>
                <a:cs typeface="Calibri"/>
              </a:rPr>
              <a:t> will be</a:t>
            </a:r>
            <a:r>
              <a:rPr lang="en-GB" b="1">
                <a:solidFill>
                  <a:srgbClr val="FF0000"/>
                </a:solidFill>
                <a:latin typeface="Calibri"/>
                <a:cs typeface="Calibri"/>
              </a:rPr>
              <a:t> upwards</a:t>
            </a:r>
            <a:r>
              <a:rPr lang="en-GB" sz="18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​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50" name="Rectangle: Rounded Corners 44">
            <a:extLst>
              <a:ext uri="{FF2B5EF4-FFF2-40B4-BE49-F238E27FC236}">
                <a16:creationId xmlns="" xmlns:a16="http://schemas.microsoft.com/office/drawing/2014/main" id="{3DBB80D0-9263-AB11-BE51-B410480B007C}"/>
              </a:ext>
            </a:extLst>
          </p:cNvPr>
          <p:cNvSpPr/>
          <p:nvPr/>
        </p:nvSpPr>
        <p:spPr>
          <a:xfrm>
            <a:off x="9494920" y="4491789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Calibri"/>
              </a:rPr>
              <a:t>Another comparator</a:t>
            </a:r>
            <a:endParaRPr lang="en-GB">
              <a:solidFill>
                <a:schemeClr val="tx1"/>
              </a:solidFill>
              <a:latin typeface="Calibri"/>
              <a:cs typeface="Calibri"/>
            </a:endParaRPr>
          </a:p>
          <a:p>
            <a:pPr algn="ctr"/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Compares between current floor(</a:t>
            </a:r>
            <a:r>
              <a:rPr lang="en-GB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) and the other floor(3)</a:t>
            </a:r>
            <a:r>
              <a:rPr lang="en-GB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​</a:t>
            </a:r>
            <a:endParaRPr lang="en-GB">
              <a:solidFill>
                <a:schemeClr val="tx1"/>
              </a:solidFill>
              <a:cs typeface="Calibri"/>
            </a:endParaRPr>
          </a:p>
        </p:txBody>
      </p:sp>
      <p:sp>
        <p:nvSpPr>
          <p:cNvPr id="51" name="Rectangle: Rounded Corners 46">
            <a:extLst>
              <a:ext uri="{FF2B5EF4-FFF2-40B4-BE49-F238E27FC236}">
                <a16:creationId xmlns="" xmlns:a16="http://schemas.microsoft.com/office/drawing/2014/main" id="{5DDFD6B3-39EA-4FA0-85CC-1C592F1BF7F4}"/>
              </a:ext>
            </a:extLst>
          </p:cNvPr>
          <p:cNvSpPr/>
          <p:nvPr/>
        </p:nvSpPr>
        <p:spPr>
          <a:xfrm>
            <a:off x="6346660" y="4218978"/>
            <a:ext cx="2586788" cy="190499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cs typeface="Calibri"/>
              </a:rPr>
              <a:t>Current direction(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upwards</a:t>
            </a:r>
            <a:r>
              <a:rPr lang="en-GB" dirty="0">
                <a:solidFill>
                  <a:schemeClr val="tx1"/>
                </a:solidFill>
                <a:cs typeface="Calibri"/>
              </a:rPr>
              <a:t>) doesn’t match with floor of consideration's(3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-downwards</a:t>
            </a:r>
            <a:r>
              <a:rPr lang="en-GB" dirty="0">
                <a:solidFill>
                  <a:schemeClr val="tx1"/>
                </a:solidFill>
                <a:cs typeface="Calibri"/>
              </a:rPr>
              <a:t>) direction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48">
            <a:extLst>
              <a:ext uri="{FF2B5EF4-FFF2-40B4-BE49-F238E27FC236}">
                <a16:creationId xmlns="" xmlns:a16="http://schemas.microsoft.com/office/drawing/2014/main" id="{B1A458BE-E992-B687-1804-9010F53CE925}"/>
              </a:ext>
            </a:extLst>
          </p:cNvPr>
          <p:cNvSpPr/>
          <p:nvPr/>
        </p:nvSpPr>
        <p:spPr>
          <a:xfrm>
            <a:off x="3067181" y="4130844"/>
            <a:ext cx="2748080" cy="207318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cs typeface="Calibri"/>
              </a:rPr>
              <a:t>3rd floor call will not be answered firstly and will proceed to farthest call(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5</a:t>
            </a:r>
            <a:r>
              <a:rPr lang="en-GB" dirty="0">
                <a:solidFill>
                  <a:schemeClr val="tx1"/>
                </a:solidFill>
                <a:cs typeface="Calibri"/>
              </a:rPr>
              <a:t>) and in the downward direction 3rd floor call will be answered</a:t>
            </a:r>
          </a:p>
        </p:txBody>
      </p:sp>
      <p:sp>
        <p:nvSpPr>
          <p:cNvPr id="53" name="Arrow: Left 50">
            <a:extLst>
              <a:ext uri="{FF2B5EF4-FFF2-40B4-BE49-F238E27FC236}">
                <a16:creationId xmlns="" xmlns:a16="http://schemas.microsoft.com/office/drawing/2014/main" id="{561DD2E5-570B-B283-4A2D-EC4996A49686}"/>
              </a:ext>
            </a:extLst>
          </p:cNvPr>
          <p:cNvSpPr/>
          <p:nvPr/>
        </p:nvSpPr>
        <p:spPr>
          <a:xfrm>
            <a:off x="8993605" y="5053262"/>
            <a:ext cx="381000" cy="30078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Arrow: Left 52">
            <a:extLst>
              <a:ext uri="{FF2B5EF4-FFF2-40B4-BE49-F238E27FC236}">
                <a16:creationId xmlns="" xmlns:a16="http://schemas.microsoft.com/office/drawing/2014/main" id="{BE04811D-8517-2195-CFD3-B16A96639CFD}"/>
              </a:ext>
            </a:extLst>
          </p:cNvPr>
          <p:cNvSpPr/>
          <p:nvPr/>
        </p:nvSpPr>
        <p:spPr>
          <a:xfrm>
            <a:off x="5885447" y="5003130"/>
            <a:ext cx="381000" cy="3208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Arrow: Down 53">
            <a:extLst>
              <a:ext uri="{FF2B5EF4-FFF2-40B4-BE49-F238E27FC236}">
                <a16:creationId xmlns="" xmlns:a16="http://schemas.microsoft.com/office/drawing/2014/main" id="{ADA1DFF5-9F68-5025-7B30-4A13B769FD65}"/>
              </a:ext>
            </a:extLst>
          </p:cNvPr>
          <p:cNvSpPr/>
          <p:nvPr/>
        </p:nvSpPr>
        <p:spPr>
          <a:xfrm>
            <a:off x="10607842" y="3870158"/>
            <a:ext cx="330868" cy="3910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246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Introduction</a:t>
            </a:r>
            <a:endParaRPr lang="x-non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7</a:t>
            </a:fld>
            <a:endParaRPr lang="x-non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B4113EF-FC58-6A2C-48BE-FBF99C4B1ED7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Content Placeholder 5">
            <a:extLst>
              <a:ext uri="{FF2B5EF4-FFF2-40B4-BE49-F238E27FC236}">
                <a16:creationId xmlns="" xmlns:a16="http://schemas.microsoft.com/office/drawing/2014/main" id="{CF536DA9-880D-9FBE-B12D-F040EE685FF3}"/>
              </a:ext>
            </a:extLst>
          </p:cNvPr>
          <p:cNvSpPr txBox="1">
            <a:spLocks/>
          </p:cNvSpPr>
          <p:nvPr/>
        </p:nvSpPr>
        <p:spPr>
          <a:xfrm>
            <a:off x="3234489" y="1584993"/>
            <a:ext cx="795889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>
                <a:cs typeface="Calibri"/>
              </a:rPr>
              <a:t>Flow diagram:</a:t>
            </a:r>
            <a:endParaRPr lang="en-US" b="1" u="sng"/>
          </a:p>
          <a:p>
            <a:pPr marL="0" indent="0">
              <a:buFont typeface="Arial" panose="020B0604020202020204" pitchFamily="34" charset="0"/>
              <a:buNone/>
            </a:pPr>
            <a:endParaRPr lang="en-US" b="1" u="sng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56" name="Rectangle: Rounded Corners 140">
            <a:extLst>
              <a:ext uri="{FF2B5EF4-FFF2-40B4-BE49-F238E27FC236}">
                <a16:creationId xmlns="" xmlns:a16="http://schemas.microsoft.com/office/drawing/2014/main" id="{4D76CC35-ECCA-A944-A3D9-DDDF831E3A96}"/>
              </a:ext>
            </a:extLst>
          </p:cNvPr>
          <p:cNvSpPr/>
          <p:nvPr/>
        </p:nvSpPr>
        <p:spPr>
          <a:xfrm>
            <a:off x="3348789" y="2265947"/>
            <a:ext cx="2326105" cy="146384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Farthest floor will be detected(2,5 - </a:t>
            </a:r>
            <a:r>
              <a:rPr lang="en-GB" b="1">
                <a:solidFill>
                  <a:srgbClr val="FF0000"/>
                </a:solidFill>
                <a:cs typeface="Calibri"/>
              </a:rPr>
              <a:t>5</a:t>
            </a:r>
            <a:r>
              <a:rPr lang="en-GB">
                <a:solidFill>
                  <a:schemeClr val="tx1"/>
                </a:solidFill>
                <a:cs typeface="Calibri"/>
              </a:rPr>
              <a:t>)</a:t>
            </a:r>
          </a:p>
        </p:txBody>
      </p:sp>
      <p:sp>
        <p:nvSpPr>
          <p:cNvPr id="57" name="Arrow: Right 142">
            <a:extLst>
              <a:ext uri="{FF2B5EF4-FFF2-40B4-BE49-F238E27FC236}">
                <a16:creationId xmlns="" xmlns:a16="http://schemas.microsoft.com/office/drawing/2014/main" id="{62BD9CAF-E4A6-A93D-3873-A51F95BF9F59}"/>
              </a:ext>
            </a:extLst>
          </p:cNvPr>
          <p:cNvSpPr/>
          <p:nvPr/>
        </p:nvSpPr>
        <p:spPr>
          <a:xfrm>
            <a:off x="5845341" y="2817394"/>
            <a:ext cx="421105" cy="391026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: Rounded Corners 144">
            <a:extLst>
              <a:ext uri="{FF2B5EF4-FFF2-40B4-BE49-F238E27FC236}">
                <a16:creationId xmlns="" xmlns:a16="http://schemas.microsoft.com/office/drawing/2014/main" id="{C35A3FFD-4E3E-131E-61F7-FCC9B1E1CAE3}"/>
              </a:ext>
            </a:extLst>
          </p:cNvPr>
          <p:cNvSpPr/>
          <p:nvPr/>
        </p:nvSpPr>
        <p:spPr>
          <a:xfrm>
            <a:off x="6376737" y="2275974"/>
            <a:ext cx="2426368" cy="1423736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Farthest floor(</a:t>
            </a:r>
            <a:r>
              <a:rPr lang="en-GB" b="1">
                <a:solidFill>
                  <a:srgbClr val="FF0000"/>
                </a:solidFill>
                <a:cs typeface="Calibri"/>
              </a:rPr>
              <a:t>5</a:t>
            </a:r>
            <a:r>
              <a:rPr lang="en-GB">
                <a:solidFill>
                  <a:schemeClr val="tx1"/>
                </a:solidFill>
                <a:cs typeface="Calibri"/>
              </a:rPr>
              <a:t>) will be compared to current floor(3) by using a comparator </a:t>
            </a:r>
          </a:p>
        </p:txBody>
      </p:sp>
      <p:sp>
        <p:nvSpPr>
          <p:cNvPr id="59" name="Arrow: Right 146">
            <a:extLst>
              <a:ext uri="{FF2B5EF4-FFF2-40B4-BE49-F238E27FC236}">
                <a16:creationId xmlns="" xmlns:a16="http://schemas.microsoft.com/office/drawing/2014/main" id="{999AED63-7D00-7A62-857E-381011A6F544}"/>
              </a:ext>
            </a:extLst>
          </p:cNvPr>
          <p:cNvSpPr/>
          <p:nvPr/>
        </p:nvSpPr>
        <p:spPr>
          <a:xfrm>
            <a:off x="8923420" y="2887578"/>
            <a:ext cx="350921" cy="3208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: Rounded Corners 148">
            <a:extLst>
              <a:ext uri="{FF2B5EF4-FFF2-40B4-BE49-F238E27FC236}">
                <a16:creationId xmlns="" xmlns:a16="http://schemas.microsoft.com/office/drawing/2014/main" id="{D9E0C579-7492-EBBA-002F-7BD1FBE012AE}"/>
              </a:ext>
            </a:extLst>
          </p:cNvPr>
          <p:cNvSpPr/>
          <p:nvPr/>
        </p:nvSpPr>
        <p:spPr>
          <a:xfrm>
            <a:off x="9404684" y="2306053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Calibri"/>
              </a:rPr>
              <a:t>Determines that the </a:t>
            </a:r>
            <a:r>
              <a:rPr lang="en-GB" sz="1800">
                <a:solidFill>
                  <a:schemeClr val="tx1"/>
                </a:solidFill>
                <a:latin typeface="Calibri"/>
              </a:rPr>
              <a:t>direction of the lift</a:t>
            </a:r>
            <a:r>
              <a:rPr lang="en-GB">
                <a:solidFill>
                  <a:schemeClr val="tx1"/>
                </a:solidFill>
                <a:latin typeface="Calibri"/>
                <a:cs typeface="Calibri"/>
              </a:rPr>
              <a:t> will be</a:t>
            </a:r>
            <a:r>
              <a:rPr lang="en-GB" b="1">
                <a:solidFill>
                  <a:srgbClr val="FF0000"/>
                </a:solidFill>
                <a:latin typeface="Calibri"/>
                <a:cs typeface="Calibri"/>
              </a:rPr>
              <a:t> upwards</a:t>
            </a:r>
            <a:r>
              <a:rPr lang="en-GB" sz="18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​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61" name="Rectangle: Rounded Corners 150">
            <a:extLst>
              <a:ext uri="{FF2B5EF4-FFF2-40B4-BE49-F238E27FC236}">
                <a16:creationId xmlns="" xmlns:a16="http://schemas.microsoft.com/office/drawing/2014/main" id="{D2156D96-1932-1446-89F7-2FD06EB761A9}"/>
              </a:ext>
            </a:extLst>
          </p:cNvPr>
          <p:cNvSpPr/>
          <p:nvPr/>
        </p:nvSpPr>
        <p:spPr>
          <a:xfrm>
            <a:off x="9405856" y="4363140"/>
            <a:ext cx="2645773" cy="15721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Calibri"/>
              </a:rPr>
              <a:t>After reaching 5th floor another comparator compares between</a:t>
            </a:r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 current floor(5) and the other floor(2) </a:t>
            </a:r>
          </a:p>
          <a:p>
            <a:pPr algn="ctr"/>
            <a:endParaRPr lang="en-GB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2" name="Rectangle: Rounded Corners 152">
            <a:extLst>
              <a:ext uri="{FF2B5EF4-FFF2-40B4-BE49-F238E27FC236}">
                <a16:creationId xmlns="" xmlns:a16="http://schemas.microsoft.com/office/drawing/2014/main" id="{BB5BD347-DD43-7AAE-6E1F-A91EFE51DBC0}"/>
              </a:ext>
            </a:extLst>
          </p:cNvPr>
          <p:cNvSpPr/>
          <p:nvPr/>
        </p:nvSpPr>
        <p:spPr>
          <a:xfrm>
            <a:off x="6366710" y="4188615"/>
            <a:ext cx="2556709" cy="191068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cs typeface="Calibri"/>
              </a:rPr>
              <a:t>Current direction(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up</a:t>
            </a:r>
            <a:r>
              <a:rPr lang="en-GB" dirty="0">
                <a:solidFill>
                  <a:schemeClr val="tx1"/>
                </a:solidFill>
                <a:cs typeface="Calibri"/>
              </a:rPr>
              <a:t>) does not match with floor of consideration's(2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-up</a:t>
            </a:r>
            <a:r>
              <a:rPr lang="en-GB" dirty="0">
                <a:solidFill>
                  <a:schemeClr val="tx1"/>
                </a:solidFill>
                <a:cs typeface="Calibri"/>
              </a:rPr>
              <a:t>)</a:t>
            </a:r>
          </a:p>
          <a:p>
            <a:pPr algn="ctr"/>
            <a:r>
              <a:rPr lang="en-GB" dirty="0">
                <a:solidFill>
                  <a:schemeClr val="tx1"/>
                </a:solidFill>
                <a:cs typeface="Calibri"/>
              </a:rPr>
              <a:t>direction</a:t>
            </a:r>
            <a:endParaRPr lang="en-GB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3" name="Rectangle: Rounded Corners 154">
            <a:extLst>
              <a:ext uri="{FF2B5EF4-FFF2-40B4-BE49-F238E27FC236}">
                <a16:creationId xmlns="" xmlns:a16="http://schemas.microsoft.com/office/drawing/2014/main" id="{7E0B507D-3135-77C5-A82A-DF80E57F407A}"/>
              </a:ext>
            </a:extLst>
          </p:cNvPr>
          <p:cNvSpPr/>
          <p:nvPr/>
        </p:nvSpPr>
        <p:spPr>
          <a:xfrm>
            <a:off x="3238499" y="4491790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2nd floor call will not be answered while going down</a:t>
            </a:r>
            <a:endParaRPr lang="en-GB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4" name="Arrow: Left 156">
            <a:extLst>
              <a:ext uri="{FF2B5EF4-FFF2-40B4-BE49-F238E27FC236}">
                <a16:creationId xmlns="" xmlns:a16="http://schemas.microsoft.com/office/drawing/2014/main" id="{6FF6BC79-D9AF-35CD-B9BB-7733BAD41A54}"/>
              </a:ext>
            </a:extLst>
          </p:cNvPr>
          <p:cNvSpPr/>
          <p:nvPr/>
        </p:nvSpPr>
        <p:spPr>
          <a:xfrm>
            <a:off x="8993605" y="5053262"/>
            <a:ext cx="381000" cy="30078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Arrow: Left 158">
            <a:extLst>
              <a:ext uri="{FF2B5EF4-FFF2-40B4-BE49-F238E27FC236}">
                <a16:creationId xmlns="" xmlns:a16="http://schemas.microsoft.com/office/drawing/2014/main" id="{377CC23D-46EF-5D6C-F198-D72A8F48238F}"/>
              </a:ext>
            </a:extLst>
          </p:cNvPr>
          <p:cNvSpPr/>
          <p:nvPr/>
        </p:nvSpPr>
        <p:spPr>
          <a:xfrm>
            <a:off x="5885447" y="5003130"/>
            <a:ext cx="381000" cy="3208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Arrow: Down 160">
            <a:extLst>
              <a:ext uri="{FF2B5EF4-FFF2-40B4-BE49-F238E27FC236}">
                <a16:creationId xmlns="" xmlns:a16="http://schemas.microsoft.com/office/drawing/2014/main" id="{51BCF609-49E5-2AC4-F8F9-1D491CFB6BDC}"/>
              </a:ext>
            </a:extLst>
          </p:cNvPr>
          <p:cNvSpPr/>
          <p:nvPr/>
        </p:nvSpPr>
        <p:spPr>
          <a:xfrm>
            <a:off x="10607842" y="3870158"/>
            <a:ext cx="330868" cy="3910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="" xmlns:a16="http://schemas.microsoft.com/office/drawing/2014/main" id="{72C5D128-61BA-0EDD-7B35-DBD464328962}"/>
              </a:ext>
            </a:extLst>
          </p:cNvPr>
          <p:cNvSpPr/>
          <p:nvPr/>
        </p:nvSpPr>
        <p:spPr>
          <a:xfrm>
            <a:off x="452097" y="2202290"/>
            <a:ext cx="2377440" cy="3515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164">
            <a:extLst>
              <a:ext uri="{FF2B5EF4-FFF2-40B4-BE49-F238E27FC236}">
                <a16:creationId xmlns="" xmlns:a16="http://schemas.microsoft.com/office/drawing/2014/main" id="{97E8B661-FAE5-73C9-FFA2-44C1EB6378EB}"/>
              </a:ext>
            </a:extLst>
          </p:cNvPr>
          <p:cNvSpPr/>
          <p:nvPr/>
        </p:nvSpPr>
        <p:spPr>
          <a:xfrm>
            <a:off x="886437" y="2486770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166">
            <a:extLst>
              <a:ext uri="{FF2B5EF4-FFF2-40B4-BE49-F238E27FC236}">
                <a16:creationId xmlns="" xmlns:a16="http://schemas.microsoft.com/office/drawing/2014/main" id="{2D9F9D30-3808-87A3-0387-40909992C921}"/>
              </a:ext>
            </a:extLst>
          </p:cNvPr>
          <p:cNvSpPr/>
          <p:nvPr/>
        </p:nvSpPr>
        <p:spPr>
          <a:xfrm>
            <a:off x="886437" y="3096369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168">
            <a:extLst>
              <a:ext uri="{FF2B5EF4-FFF2-40B4-BE49-F238E27FC236}">
                <a16:creationId xmlns="" xmlns:a16="http://schemas.microsoft.com/office/drawing/2014/main" id="{DF447D35-01C4-CCCE-B005-7A06FAE1CA16}"/>
              </a:ext>
            </a:extLst>
          </p:cNvPr>
          <p:cNvSpPr/>
          <p:nvPr/>
        </p:nvSpPr>
        <p:spPr>
          <a:xfrm>
            <a:off x="886437" y="3705969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170">
            <a:extLst>
              <a:ext uri="{FF2B5EF4-FFF2-40B4-BE49-F238E27FC236}">
                <a16:creationId xmlns="" xmlns:a16="http://schemas.microsoft.com/office/drawing/2014/main" id="{884610A0-95CA-CA0E-1FBB-A28C69DB29DB}"/>
              </a:ext>
            </a:extLst>
          </p:cNvPr>
          <p:cNvSpPr/>
          <p:nvPr/>
        </p:nvSpPr>
        <p:spPr>
          <a:xfrm>
            <a:off x="886437" y="4315569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172">
            <a:extLst>
              <a:ext uri="{FF2B5EF4-FFF2-40B4-BE49-F238E27FC236}">
                <a16:creationId xmlns="" xmlns:a16="http://schemas.microsoft.com/office/drawing/2014/main" id="{F9BF0873-051F-8029-29A5-90769D70696A}"/>
              </a:ext>
            </a:extLst>
          </p:cNvPr>
          <p:cNvSpPr/>
          <p:nvPr/>
        </p:nvSpPr>
        <p:spPr>
          <a:xfrm>
            <a:off x="876277" y="4925169"/>
            <a:ext cx="1178560" cy="56896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Up 174">
            <a:extLst>
              <a:ext uri="{FF2B5EF4-FFF2-40B4-BE49-F238E27FC236}">
                <a16:creationId xmlns="" xmlns:a16="http://schemas.microsoft.com/office/drawing/2014/main" id="{81D88CDF-75B8-8736-B359-46B27C9FC9AA}"/>
              </a:ext>
            </a:extLst>
          </p:cNvPr>
          <p:cNvSpPr/>
          <p:nvPr/>
        </p:nvSpPr>
        <p:spPr>
          <a:xfrm>
            <a:off x="2187740" y="3781812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162F1C19-E0AC-CEBF-5226-DD5FC4A1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767" y="2542259"/>
            <a:ext cx="403539" cy="440953"/>
          </a:xfrm>
          <a:prstGeom prst="rect">
            <a:avLst/>
          </a:prstGeom>
        </p:spPr>
      </p:pic>
      <p:sp>
        <p:nvSpPr>
          <p:cNvPr id="75" name="Arrow: Up 178">
            <a:extLst>
              <a:ext uri="{FF2B5EF4-FFF2-40B4-BE49-F238E27FC236}">
                <a16:creationId xmlns="" xmlns:a16="http://schemas.microsoft.com/office/drawing/2014/main" id="{26EBBC79-6474-F9FC-84E5-801903798BDB}"/>
              </a:ext>
            </a:extLst>
          </p:cNvPr>
          <p:cNvSpPr/>
          <p:nvPr/>
        </p:nvSpPr>
        <p:spPr>
          <a:xfrm rot="10800000">
            <a:off x="2423852" y="2601249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62317601-0BEA-A00A-2198-2BE2888FE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767" y="4366766"/>
            <a:ext cx="403539" cy="440953"/>
          </a:xfrm>
          <a:prstGeom prst="rect">
            <a:avLst/>
          </a:prstGeom>
        </p:spPr>
      </p:pic>
      <p:sp>
        <p:nvSpPr>
          <p:cNvPr id="77" name="Arrow: Up 182">
            <a:extLst>
              <a:ext uri="{FF2B5EF4-FFF2-40B4-BE49-F238E27FC236}">
                <a16:creationId xmlns="" xmlns:a16="http://schemas.microsoft.com/office/drawing/2014/main" id="{1474F51D-35D4-F92E-F4C3-7C3998AB70FB}"/>
              </a:ext>
            </a:extLst>
          </p:cNvPr>
          <p:cNvSpPr/>
          <p:nvPr/>
        </p:nvSpPr>
        <p:spPr>
          <a:xfrm>
            <a:off x="2423852" y="4436489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="" xmlns:a16="http://schemas.microsoft.com/office/drawing/2014/main" id="{27DFFE6D-6211-91E1-C47C-D386DC3EE417}"/>
              </a:ext>
            </a:extLst>
          </p:cNvPr>
          <p:cNvSpPr/>
          <p:nvPr/>
        </p:nvSpPr>
        <p:spPr>
          <a:xfrm>
            <a:off x="841934" y="1633152"/>
            <a:ext cx="1599126" cy="3863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cs typeface="Calibri"/>
              </a:rPr>
              <a:t>Case - 3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754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9019EF6-C9F9-8E4B-90AC-5D229CB1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Introduction</a:t>
            </a:r>
            <a:endParaRPr lang="x-none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C29DA07C-0ED1-CC41-B09A-5D68474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668100" cy="356363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E62B1C3D-B08D-D14D-A3BD-DCF2567A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00586" y="6482588"/>
            <a:ext cx="6310364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242F02E1-6859-4149-9453-07F6EB3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8</a:t>
            </a:fld>
            <a:endParaRPr lang="x-non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B4113EF-FC58-6A2C-48BE-FBF99C4B1ED7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Content Placeholder 5">
            <a:extLst>
              <a:ext uri="{FF2B5EF4-FFF2-40B4-BE49-F238E27FC236}">
                <a16:creationId xmlns="" xmlns:a16="http://schemas.microsoft.com/office/drawing/2014/main" id="{66AC4DBD-C12A-4269-E213-2C1DB8B2A83B}"/>
              </a:ext>
            </a:extLst>
          </p:cNvPr>
          <p:cNvSpPr txBox="1">
            <a:spLocks/>
          </p:cNvSpPr>
          <p:nvPr/>
        </p:nvSpPr>
        <p:spPr>
          <a:xfrm>
            <a:off x="3234489" y="1584993"/>
            <a:ext cx="795889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>
                <a:cs typeface="Calibri"/>
              </a:rPr>
              <a:t>Flow diagram:</a:t>
            </a:r>
            <a:endParaRPr lang="en-US" b="1" u="sng"/>
          </a:p>
          <a:p>
            <a:pPr marL="0" indent="0">
              <a:buFont typeface="Arial" panose="020B0604020202020204" pitchFamily="34" charset="0"/>
              <a:buNone/>
            </a:pPr>
            <a:endParaRPr lang="en-US" b="1" u="sng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56" name="Rectangle: Rounded Corners 32">
            <a:extLst>
              <a:ext uri="{FF2B5EF4-FFF2-40B4-BE49-F238E27FC236}">
                <a16:creationId xmlns="" xmlns:a16="http://schemas.microsoft.com/office/drawing/2014/main" id="{57AC4D9A-0987-7B50-F66D-086F7A04DE91}"/>
              </a:ext>
            </a:extLst>
          </p:cNvPr>
          <p:cNvSpPr/>
          <p:nvPr/>
        </p:nvSpPr>
        <p:spPr>
          <a:xfrm>
            <a:off x="3348789" y="2265947"/>
            <a:ext cx="2326105" cy="1463842"/>
          </a:xfrm>
          <a:prstGeom prst="round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Farthest floor will be detected(2,5 - </a:t>
            </a:r>
            <a:r>
              <a:rPr lang="en-GB" b="1">
                <a:solidFill>
                  <a:srgbClr val="FF0000"/>
                </a:solidFill>
                <a:cs typeface="Calibri"/>
              </a:rPr>
              <a:t>5</a:t>
            </a:r>
            <a:r>
              <a:rPr lang="en-GB">
                <a:solidFill>
                  <a:schemeClr val="tx1"/>
                </a:solidFill>
                <a:cs typeface="Calibri"/>
              </a:rPr>
              <a:t>)</a:t>
            </a:r>
          </a:p>
        </p:txBody>
      </p:sp>
      <p:sp>
        <p:nvSpPr>
          <p:cNvPr id="57" name="Arrow: Right 34">
            <a:extLst>
              <a:ext uri="{FF2B5EF4-FFF2-40B4-BE49-F238E27FC236}">
                <a16:creationId xmlns="" xmlns:a16="http://schemas.microsoft.com/office/drawing/2014/main" id="{D4728A9E-CD17-D562-B440-4F557F9C2E46}"/>
              </a:ext>
            </a:extLst>
          </p:cNvPr>
          <p:cNvSpPr/>
          <p:nvPr/>
        </p:nvSpPr>
        <p:spPr>
          <a:xfrm>
            <a:off x="5845341" y="2817394"/>
            <a:ext cx="421105" cy="391026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: Rounded Corners 36">
            <a:extLst>
              <a:ext uri="{FF2B5EF4-FFF2-40B4-BE49-F238E27FC236}">
                <a16:creationId xmlns="" xmlns:a16="http://schemas.microsoft.com/office/drawing/2014/main" id="{CD06590A-B3E9-5191-3D0D-EABE067B6EED}"/>
              </a:ext>
            </a:extLst>
          </p:cNvPr>
          <p:cNvSpPr/>
          <p:nvPr/>
        </p:nvSpPr>
        <p:spPr>
          <a:xfrm>
            <a:off x="6376737" y="2275974"/>
            <a:ext cx="2426368" cy="1423736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Farthest floor(</a:t>
            </a:r>
            <a:r>
              <a:rPr lang="en-GB" b="1">
                <a:solidFill>
                  <a:srgbClr val="FF0000"/>
                </a:solidFill>
                <a:cs typeface="Calibri"/>
              </a:rPr>
              <a:t>5</a:t>
            </a:r>
            <a:r>
              <a:rPr lang="en-GB">
                <a:solidFill>
                  <a:schemeClr val="tx1"/>
                </a:solidFill>
                <a:cs typeface="Calibri"/>
              </a:rPr>
              <a:t>) will be compared to current floor(3) by using a comparator </a:t>
            </a:r>
          </a:p>
        </p:txBody>
      </p:sp>
      <p:sp>
        <p:nvSpPr>
          <p:cNvPr id="59" name="Arrow: Right 38">
            <a:extLst>
              <a:ext uri="{FF2B5EF4-FFF2-40B4-BE49-F238E27FC236}">
                <a16:creationId xmlns="" xmlns:a16="http://schemas.microsoft.com/office/drawing/2014/main" id="{8C02FEE5-6E33-964A-04CE-9DE57B9DDB4B}"/>
              </a:ext>
            </a:extLst>
          </p:cNvPr>
          <p:cNvSpPr/>
          <p:nvPr/>
        </p:nvSpPr>
        <p:spPr>
          <a:xfrm>
            <a:off x="8923420" y="2887578"/>
            <a:ext cx="350921" cy="3208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: Rounded Corners 40">
            <a:extLst>
              <a:ext uri="{FF2B5EF4-FFF2-40B4-BE49-F238E27FC236}">
                <a16:creationId xmlns="" xmlns:a16="http://schemas.microsoft.com/office/drawing/2014/main" id="{05442864-BDC5-47B0-FAA9-646D4C496270}"/>
              </a:ext>
            </a:extLst>
          </p:cNvPr>
          <p:cNvSpPr/>
          <p:nvPr/>
        </p:nvSpPr>
        <p:spPr>
          <a:xfrm>
            <a:off x="9404684" y="2306053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Calibri"/>
              </a:rPr>
              <a:t>Determines that the </a:t>
            </a:r>
            <a:r>
              <a:rPr lang="en-GB" sz="1800">
                <a:solidFill>
                  <a:schemeClr val="tx1"/>
                </a:solidFill>
                <a:latin typeface="Calibri"/>
              </a:rPr>
              <a:t>direction of the lift</a:t>
            </a:r>
            <a:r>
              <a:rPr lang="en-GB">
                <a:solidFill>
                  <a:schemeClr val="tx1"/>
                </a:solidFill>
                <a:latin typeface="Calibri"/>
                <a:cs typeface="Calibri"/>
              </a:rPr>
              <a:t> will be</a:t>
            </a:r>
            <a:r>
              <a:rPr lang="en-GB" b="1">
                <a:solidFill>
                  <a:srgbClr val="FF0000"/>
                </a:solidFill>
                <a:latin typeface="Calibri"/>
                <a:cs typeface="Calibri"/>
              </a:rPr>
              <a:t> upwards</a:t>
            </a:r>
            <a:r>
              <a:rPr lang="en-GB" sz="18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​</a:t>
            </a:r>
            <a:endParaRPr lang="en-GB" b="1">
              <a:solidFill>
                <a:srgbClr val="FF0000"/>
              </a:solidFill>
            </a:endParaRPr>
          </a:p>
        </p:txBody>
      </p:sp>
      <p:sp>
        <p:nvSpPr>
          <p:cNvPr id="61" name="Rectangle: Rounded Corners 42">
            <a:extLst>
              <a:ext uri="{FF2B5EF4-FFF2-40B4-BE49-F238E27FC236}">
                <a16:creationId xmlns="" xmlns:a16="http://schemas.microsoft.com/office/drawing/2014/main" id="{3C578D61-5AE0-58B8-799B-B6BBC4F56B24}"/>
              </a:ext>
            </a:extLst>
          </p:cNvPr>
          <p:cNvSpPr/>
          <p:nvPr/>
        </p:nvSpPr>
        <p:spPr>
          <a:xfrm>
            <a:off x="9494920" y="4491789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latin typeface="Calibri"/>
              </a:rPr>
              <a:t>After reaching 5th floor another comparator</a:t>
            </a:r>
            <a:endParaRPr lang="en-GB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GB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compares between current floor(5) and the other floor(2)</a:t>
            </a:r>
            <a:r>
              <a:rPr lang="en-GB" sz="1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​</a:t>
            </a:r>
            <a:endParaRPr lang="en-GB">
              <a:solidFill>
                <a:schemeClr val="tx1"/>
              </a:solidFill>
              <a:cs typeface="Calibri"/>
            </a:endParaRPr>
          </a:p>
        </p:txBody>
      </p:sp>
      <p:sp>
        <p:nvSpPr>
          <p:cNvPr id="62" name="Rectangle: Rounded Corners 44">
            <a:extLst>
              <a:ext uri="{FF2B5EF4-FFF2-40B4-BE49-F238E27FC236}">
                <a16:creationId xmlns="" xmlns:a16="http://schemas.microsoft.com/office/drawing/2014/main" id="{7999685A-5FC0-67BA-9ECF-F77AD63CFBA9}"/>
              </a:ext>
            </a:extLst>
          </p:cNvPr>
          <p:cNvSpPr/>
          <p:nvPr/>
        </p:nvSpPr>
        <p:spPr>
          <a:xfrm>
            <a:off x="6366710" y="4245967"/>
            <a:ext cx="2556709" cy="180947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cs typeface="Calibri"/>
              </a:rPr>
              <a:t>Current direction(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up</a:t>
            </a:r>
            <a:r>
              <a:rPr lang="en-GB" dirty="0">
                <a:solidFill>
                  <a:schemeClr val="tx1"/>
                </a:solidFill>
                <a:cs typeface="Calibri"/>
              </a:rPr>
              <a:t>)  matches with the floor of consideration's(2</a:t>
            </a:r>
            <a:r>
              <a:rPr lang="en-GB" b="1" dirty="0">
                <a:solidFill>
                  <a:srgbClr val="FF0000"/>
                </a:solidFill>
                <a:cs typeface="Calibri"/>
              </a:rPr>
              <a:t>-up</a:t>
            </a:r>
            <a:r>
              <a:rPr lang="en-GB" dirty="0">
                <a:solidFill>
                  <a:schemeClr val="tx1"/>
                </a:solidFill>
                <a:cs typeface="Calibri"/>
              </a:rPr>
              <a:t>)</a:t>
            </a:r>
          </a:p>
          <a:p>
            <a:pPr algn="ctr"/>
            <a:r>
              <a:rPr lang="en-GB" dirty="0">
                <a:solidFill>
                  <a:schemeClr val="tx1"/>
                </a:solidFill>
                <a:cs typeface="Calibri"/>
              </a:rPr>
              <a:t>direction</a:t>
            </a:r>
            <a:endParaRPr lang="en-GB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3" name="Rectangle: Rounded Corners 46">
            <a:extLst>
              <a:ext uri="{FF2B5EF4-FFF2-40B4-BE49-F238E27FC236}">
                <a16:creationId xmlns="" xmlns:a16="http://schemas.microsoft.com/office/drawing/2014/main" id="{A232135E-0765-F772-3777-584BE7EBBDB8}"/>
              </a:ext>
            </a:extLst>
          </p:cNvPr>
          <p:cNvSpPr/>
          <p:nvPr/>
        </p:nvSpPr>
        <p:spPr>
          <a:xfrm>
            <a:off x="3238499" y="4491790"/>
            <a:ext cx="2556709" cy="142373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solidFill>
                  <a:schemeClr val="tx1"/>
                </a:solidFill>
                <a:cs typeface="Calibri"/>
              </a:rPr>
              <a:t>2nd floor call will  be answered while going down</a:t>
            </a:r>
            <a:endParaRPr lang="en-GB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4" name="Arrow: Left 48">
            <a:extLst>
              <a:ext uri="{FF2B5EF4-FFF2-40B4-BE49-F238E27FC236}">
                <a16:creationId xmlns="" xmlns:a16="http://schemas.microsoft.com/office/drawing/2014/main" id="{28878450-F8EF-BA93-04F4-FE08C2A06153}"/>
              </a:ext>
            </a:extLst>
          </p:cNvPr>
          <p:cNvSpPr/>
          <p:nvPr/>
        </p:nvSpPr>
        <p:spPr>
          <a:xfrm>
            <a:off x="8993605" y="5053262"/>
            <a:ext cx="381000" cy="30078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Arrow: Left 50">
            <a:extLst>
              <a:ext uri="{FF2B5EF4-FFF2-40B4-BE49-F238E27FC236}">
                <a16:creationId xmlns="" xmlns:a16="http://schemas.microsoft.com/office/drawing/2014/main" id="{04888A0A-0663-6DA0-FB2E-7DB29AC4F8F1}"/>
              </a:ext>
            </a:extLst>
          </p:cNvPr>
          <p:cNvSpPr/>
          <p:nvPr/>
        </p:nvSpPr>
        <p:spPr>
          <a:xfrm>
            <a:off x="5885447" y="5003130"/>
            <a:ext cx="381000" cy="32084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Arrow: Down 52">
            <a:extLst>
              <a:ext uri="{FF2B5EF4-FFF2-40B4-BE49-F238E27FC236}">
                <a16:creationId xmlns="" xmlns:a16="http://schemas.microsoft.com/office/drawing/2014/main" id="{DE84E0B1-2896-523C-1625-E199D4C147C4}"/>
              </a:ext>
            </a:extLst>
          </p:cNvPr>
          <p:cNvSpPr/>
          <p:nvPr/>
        </p:nvSpPr>
        <p:spPr>
          <a:xfrm>
            <a:off x="10607842" y="3870158"/>
            <a:ext cx="330868" cy="3910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="" xmlns:a16="http://schemas.microsoft.com/office/drawing/2014/main" id="{CA1FC717-5DAD-6838-125E-E73E602E8098}"/>
              </a:ext>
            </a:extLst>
          </p:cNvPr>
          <p:cNvSpPr/>
          <p:nvPr/>
        </p:nvSpPr>
        <p:spPr>
          <a:xfrm>
            <a:off x="400302" y="2191247"/>
            <a:ext cx="2377440" cy="35153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80">
            <a:extLst>
              <a:ext uri="{FF2B5EF4-FFF2-40B4-BE49-F238E27FC236}">
                <a16:creationId xmlns="" xmlns:a16="http://schemas.microsoft.com/office/drawing/2014/main" id="{E96396DE-2807-8237-495E-CF9437BEACA6}"/>
              </a:ext>
            </a:extLst>
          </p:cNvPr>
          <p:cNvSpPr/>
          <p:nvPr/>
        </p:nvSpPr>
        <p:spPr>
          <a:xfrm>
            <a:off x="834642" y="2475727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82">
            <a:extLst>
              <a:ext uri="{FF2B5EF4-FFF2-40B4-BE49-F238E27FC236}">
                <a16:creationId xmlns="" xmlns:a16="http://schemas.microsoft.com/office/drawing/2014/main" id="{A1F1B3F1-14CB-4A1B-2521-1B756F621EB8}"/>
              </a:ext>
            </a:extLst>
          </p:cNvPr>
          <p:cNvSpPr/>
          <p:nvPr/>
        </p:nvSpPr>
        <p:spPr>
          <a:xfrm>
            <a:off x="834642" y="3085326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84">
            <a:extLst>
              <a:ext uri="{FF2B5EF4-FFF2-40B4-BE49-F238E27FC236}">
                <a16:creationId xmlns="" xmlns:a16="http://schemas.microsoft.com/office/drawing/2014/main" id="{74C5BCA2-2684-DC2F-E65E-1125387F2C73}"/>
              </a:ext>
            </a:extLst>
          </p:cNvPr>
          <p:cNvSpPr/>
          <p:nvPr/>
        </p:nvSpPr>
        <p:spPr>
          <a:xfrm>
            <a:off x="834642" y="3694926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86">
            <a:extLst>
              <a:ext uri="{FF2B5EF4-FFF2-40B4-BE49-F238E27FC236}">
                <a16:creationId xmlns="" xmlns:a16="http://schemas.microsoft.com/office/drawing/2014/main" id="{56120671-9723-DE1E-9CC0-2BEAF892D964}"/>
              </a:ext>
            </a:extLst>
          </p:cNvPr>
          <p:cNvSpPr/>
          <p:nvPr/>
        </p:nvSpPr>
        <p:spPr>
          <a:xfrm>
            <a:off x="834642" y="4304526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: Rounded Corners 88">
            <a:extLst>
              <a:ext uri="{FF2B5EF4-FFF2-40B4-BE49-F238E27FC236}">
                <a16:creationId xmlns="" xmlns:a16="http://schemas.microsoft.com/office/drawing/2014/main" id="{38ABC663-402F-12CF-7944-B0F52A96EB3E}"/>
              </a:ext>
            </a:extLst>
          </p:cNvPr>
          <p:cNvSpPr/>
          <p:nvPr/>
        </p:nvSpPr>
        <p:spPr>
          <a:xfrm>
            <a:off x="824481" y="4914126"/>
            <a:ext cx="1178560" cy="56896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Up 90">
            <a:extLst>
              <a:ext uri="{FF2B5EF4-FFF2-40B4-BE49-F238E27FC236}">
                <a16:creationId xmlns="" xmlns:a16="http://schemas.microsoft.com/office/drawing/2014/main" id="{C8B04494-23AB-58F6-C6B5-C2A361D71167}"/>
              </a:ext>
            </a:extLst>
          </p:cNvPr>
          <p:cNvSpPr/>
          <p:nvPr/>
        </p:nvSpPr>
        <p:spPr>
          <a:xfrm>
            <a:off x="2135945" y="3770769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048363F4-F820-338C-E0F8-D103DD0EA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972" y="2531216"/>
            <a:ext cx="403539" cy="440953"/>
          </a:xfrm>
          <a:prstGeom prst="rect">
            <a:avLst/>
          </a:prstGeom>
        </p:spPr>
      </p:pic>
      <p:sp>
        <p:nvSpPr>
          <p:cNvPr id="75" name="Arrow: Up 94">
            <a:extLst>
              <a:ext uri="{FF2B5EF4-FFF2-40B4-BE49-F238E27FC236}">
                <a16:creationId xmlns="" xmlns:a16="http://schemas.microsoft.com/office/drawing/2014/main" id="{C4EF01E6-75ED-39A7-F7B5-2C09968BE1DB}"/>
              </a:ext>
            </a:extLst>
          </p:cNvPr>
          <p:cNvSpPr/>
          <p:nvPr/>
        </p:nvSpPr>
        <p:spPr>
          <a:xfrm rot="10800000">
            <a:off x="2372057" y="2590206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14" descr="A black background with a black square&#10;&#10;Description automatically generated">
            <a:extLst>
              <a:ext uri="{FF2B5EF4-FFF2-40B4-BE49-F238E27FC236}">
                <a16:creationId xmlns="" xmlns:a16="http://schemas.microsoft.com/office/drawing/2014/main" id="{3EA2B045-E8E0-5473-2828-8EB47D038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972" y="4355723"/>
            <a:ext cx="403539" cy="440953"/>
          </a:xfrm>
          <a:prstGeom prst="rect">
            <a:avLst/>
          </a:prstGeom>
        </p:spPr>
      </p:pic>
      <p:sp>
        <p:nvSpPr>
          <p:cNvPr id="77" name="Arrow: Up 98">
            <a:extLst>
              <a:ext uri="{FF2B5EF4-FFF2-40B4-BE49-F238E27FC236}">
                <a16:creationId xmlns="" xmlns:a16="http://schemas.microsoft.com/office/drawing/2014/main" id="{E89D163B-1F76-394E-B7DE-5060F7F524A0}"/>
              </a:ext>
            </a:extLst>
          </p:cNvPr>
          <p:cNvSpPr/>
          <p:nvPr/>
        </p:nvSpPr>
        <p:spPr>
          <a:xfrm rot="10800000">
            <a:off x="2372057" y="4425446"/>
            <a:ext cx="142240" cy="335280"/>
          </a:xfrm>
          <a:prstGeom prst="up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="" xmlns:a16="http://schemas.microsoft.com/office/drawing/2014/main" id="{79468A02-7FCE-51E7-1AE6-2AF1E3443B02}"/>
              </a:ext>
            </a:extLst>
          </p:cNvPr>
          <p:cNvSpPr/>
          <p:nvPr/>
        </p:nvSpPr>
        <p:spPr>
          <a:xfrm>
            <a:off x="790138" y="1622109"/>
            <a:ext cx="1599126" cy="3863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cs typeface="Calibri"/>
              </a:rPr>
              <a:t>Case - 4</a:t>
            </a: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603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Design: </a:t>
            </a:r>
            <a:r>
              <a:rPr lang="x-none" dirty="0"/>
              <a:t>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9</a:t>
            </a:fld>
            <a:endParaRPr lang="x-none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xmlns="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8D98CFC-581F-2C4F-57A4-5892CF555A9A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0719" y="4119239"/>
            <a:ext cx="1447059" cy="79899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Current floor </a:t>
            </a:r>
            <a:r>
              <a:rPr lang="en-US" sz="1600" b="1" dirty="0"/>
              <a:t>i</a:t>
            </a:r>
            <a:r>
              <a:rPr lang="en-US" sz="1600" b="1" dirty="0" smtClean="0"/>
              <a:t>nput</a:t>
            </a:r>
            <a:endParaRPr lang="en-US" sz="1600" b="1" dirty="0"/>
          </a:p>
        </p:txBody>
      </p:sp>
      <p:sp>
        <p:nvSpPr>
          <p:cNvPr id="11" name="Rectangle 10"/>
          <p:cNvSpPr/>
          <p:nvPr/>
        </p:nvSpPr>
        <p:spPr>
          <a:xfrm>
            <a:off x="2274163" y="3972286"/>
            <a:ext cx="1658645" cy="109289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Enable the corresponding priority encoder</a:t>
            </a:r>
            <a:endParaRPr lang="en-US" sz="1600" dirty="0"/>
          </a:p>
        </p:txBody>
      </p:sp>
      <p:sp>
        <p:nvSpPr>
          <p:cNvPr id="12" name="Oval 11"/>
          <p:cNvSpPr/>
          <p:nvPr/>
        </p:nvSpPr>
        <p:spPr>
          <a:xfrm>
            <a:off x="4367814" y="4199138"/>
            <a:ext cx="470516" cy="51490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0" idx="3"/>
            <a:endCxn id="11" idx="1"/>
          </p:cNvCxnSpPr>
          <p:nvPr/>
        </p:nvCxnSpPr>
        <p:spPr>
          <a:xfrm flipV="1">
            <a:off x="1757778" y="4518734"/>
            <a:ext cx="516385" cy="1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12" idx="2"/>
          </p:cNvCxnSpPr>
          <p:nvPr/>
        </p:nvCxnSpPr>
        <p:spPr>
          <a:xfrm>
            <a:off x="3932808" y="4456591"/>
            <a:ext cx="435006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773749" y="2411543"/>
            <a:ext cx="1658645" cy="46094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Floor call input</a:t>
            </a:r>
            <a:endParaRPr lang="en-US" sz="1600" b="1" dirty="0"/>
          </a:p>
        </p:txBody>
      </p:sp>
      <p:cxnSp>
        <p:nvCxnSpPr>
          <p:cNvPr id="19" name="Straight Arrow Connector 18"/>
          <p:cNvCxnSpPr>
            <a:stCxn id="17" idx="2"/>
            <a:endCxn id="12" idx="0"/>
          </p:cNvCxnSpPr>
          <p:nvPr/>
        </p:nvCxnSpPr>
        <p:spPr>
          <a:xfrm>
            <a:off x="4603072" y="2872490"/>
            <a:ext cx="0" cy="1326648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508594" y="3838024"/>
            <a:ext cx="1658645" cy="123713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Output of encoder according to priority of the calls</a:t>
            </a:r>
            <a:endParaRPr lang="en-US" sz="1600" dirty="0"/>
          </a:p>
        </p:txBody>
      </p:sp>
      <p:cxnSp>
        <p:nvCxnSpPr>
          <p:cNvPr id="22" name="Straight Arrow Connector 21"/>
          <p:cNvCxnSpPr>
            <a:endCxn id="21" idx="1"/>
          </p:cNvCxnSpPr>
          <p:nvPr/>
        </p:nvCxnSpPr>
        <p:spPr>
          <a:xfrm>
            <a:off x="4838330" y="4447282"/>
            <a:ext cx="670264" cy="9309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913702" y="4178379"/>
            <a:ext cx="1658645" cy="5564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AND/OR logic</a:t>
            </a:r>
            <a:endParaRPr lang="en-US" sz="1600" dirty="0"/>
          </a:p>
        </p:txBody>
      </p:sp>
      <p:cxnSp>
        <p:nvCxnSpPr>
          <p:cNvPr id="26" name="Straight Arrow Connector 25"/>
          <p:cNvCxnSpPr>
            <a:stCxn id="21" idx="3"/>
            <a:endCxn id="25" idx="1"/>
          </p:cNvCxnSpPr>
          <p:nvPr/>
        </p:nvCxnSpPr>
        <p:spPr>
          <a:xfrm>
            <a:off x="7167239" y="4456591"/>
            <a:ext cx="746463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161120" y="4169070"/>
            <a:ext cx="1658645" cy="556423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Output</a:t>
            </a:r>
            <a:endParaRPr lang="en-US" sz="1600" b="1" dirty="0"/>
          </a:p>
        </p:txBody>
      </p:sp>
      <p:cxnSp>
        <p:nvCxnSpPr>
          <p:cNvPr id="30" name="Straight Arrow Connector 29"/>
          <p:cNvCxnSpPr>
            <a:endCxn id="29" idx="1"/>
          </p:cNvCxnSpPr>
          <p:nvPr/>
        </p:nvCxnSpPr>
        <p:spPr>
          <a:xfrm>
            <a:off x="9572347" y="4447281"/>
            <a:ext cx="588773" cy="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175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3.1 Design: </a:t>
            </a:r>
            <a:r>
              <a:rPr lang="x-none" dirty="0"/>
              <a:t>Methods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10</a:t>
            </a:fld>
            <a:endParaRPr lang="x-none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xmlns="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8D98CFC-581F-2C4F-57A4-5892CF555A9A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457" y="1188720"/>
            <a:ext cx="7890157" cy="50335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2660" y="2631314"/>
            <a:ext cx="3169328" cy="10741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– </a:t>
            </a:r>
          </a:p>
          <a:p>
            <a:pPr algn="ctr"/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for 3</a:t>
            </a:r>
            <a:r>
              <a:rPr lang="en-US" sz="2800" baseline="300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sz="28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floor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694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65BEC-A1DF-DB49-B707-F4003CEA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Design: Circuit Diagram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4FAFD4-E2E1-B948-84C7-28DD8B5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11</a:t>
            </a:fld>
            <a:endParaRPr lang="x-none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xmlns="" id="{BFD6422F-12DA-8A45-9AF9-8BFCA12E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82DF7523-28E5-1646-96D1-1E49DDA9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9657847-EFF5-9936-34C1-7317156A9653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11" y="1310926"/>
            <a:ext cx="10857124" cy="50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1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Design: </a:t>
            </a:r>
            <a:r>
              <a:rPr lang="x-none" dirty="0"/>
              <a:t>Simulation</a:t>
            </a:r>
            <a:r>
              <a:rPr lang="en-US" dirty="0"/>
              <a:t> (optional)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If you did simulation, add screenshots / screen captured video in the slide to show key features. For screen captures, you can remove this slide for the video and directly explain in the software. </a:t>
            </a:r>
            <a:r>
              <a:rPr lang="en-GB" dirty="0"/>
              <a:t>A</a:t>
            </a:r>
            <a:r>
              <a:rPr lang="x-none" dirty="0"/>
              <a:t>dd screenshots for the PPT file that you will submit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12</a:t>
            </a:fld>
            <a:endParaRPr lang="x-none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xmlns="" id="{C602F4CA-DD7B-CF49-91E1-C48A0A66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xmlns="" id="{1B64B1C5-C192-DE4C-902D-771BC68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01C90DE-C491-4882-65FE-A74CF1FAD9F2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859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60B970-D649-D94F-8664-96B04BAE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9714"/>
            <a:ext cx="10866120" cy="665656"/>
          </a:xfrm>
        </p:spPr>
        <p:txBody>
          <a:bodyPr>
            <a:normAutofit fontScale="90000"/>
          </a:bodyPr>
          <a:lstStyle/>
          <a:p>
            <a:r>
              <a:rPr lang="en-US" dirty="0"/>
              <a:t>3.4 Design: </a:t>
            </a:r>
            <a:r>
              <a:rPr lang="x-none" dirty="0"/>
              <a:t>PCB Layout and 3d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D0F347-53A9-8047-88A2-4DC8C452F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PCB layout design of your project (add picture and briefly show it in video), and 3d rendering.</a:t>
            </a:r>
          </a:p>
          <a:p>
            <a:r>
              <a:rPr lang="x-none" dirty="0"/>
              <a:t>(in proteus, it is possible to do the 3d render, just take a screen shot of that)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698FA6-9BAA-4542-B217-33D440FE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13</a:t>
            </a:fld>
            <a:endParaRPr lang="x-none"/>
          </a:p>
        </p:txBody>
      </p:sp>
      <p:pic>
        <p:nvPicPr>
          <p:cNvPr id="3074" name="Picture 2" descr="Smart solar charge controller using microcontroller">
            <a:extLst>
              <a:ext uri="{FF2B5EF4-FFF2-40B4-BE49-F238E27FC236}">
                <a16:creationId xmlns:a16="http://schemas.microsoft.com/office/drawing/2014/main" xmlns="" id="{0FEBDC6D-0EB9-1848-A87F-6D9F97450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920" y="3429000"/>
            <a:ext cx="5212080" cy="2770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mart solar charge controller using microcontroller">
            <a:extLst>
              <a:ext uri="{FF2B5EF4-FFF2-40B4-BE49-F238E27FC236}">
                <a16:creationId xmlns:a16="http://schemas.microsoft.com/office/drawing/2014/main" xmlns="" id="{3832B326-A892-674A-B1E2-1E39EED29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69" y="3429000"/>
            <a:ext cx="4132581" cy="27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Date Placeholder 5">
            <a:extLst>
              <a:ext uri="{FF2B5EF4-FFF2-40B4-BE49-F238E27FC236}">
                <a16:creationId xmlns:a16="http://schemas.microsoft.com/office/drawing/2014/main" xmlns="" id="{8CC09E19-179A-6E40-996F-0A7D45FD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xmlns="" id="{E17F9CEA-A96B-EF46-A422-E1A080B07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32466E7D-FCC0-6475-DA94-99F290D8DFAC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992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 Implementation: Demonstration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14</a:t>
            </a:fld>
            <a:endParaRPr lang="x-none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xmlns="" id="{C602F4CA-DD7B-CF49-91E1-C48A0A66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xmlns="" id="{1B64B1C5-C192-DE4C-902D-771BC68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E4061DF-15B4-7C2D-0015-360B217227BD}"/>
              </a:ext>
            </a:extLst>
          </p:cNvPr>
          <p:cNvSpPr txBox="1"/>
          <p:nvPr/>
        </p:nvSpPr>
        <p:spPr>
          <a:xfrm>
            <a:off x="7863840" y="2505670"/>
            <a:ext cx="3261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dirty="0">
                <a:solidFill>
                  <a:srgbClr val="0432FF"/>
                </a:solidFill>
              </a:rPr>
              <a:t>If you could implement the project in hardware</a:t>
            </a:r>
            <a:r>
              <a:rPr lang="en-US" dirty="0">
                <a:solidFill>
                  <a:srgbClr val="0432FF"/>
                </a:solidFill>
              </a:rPr>
              <a:t> (even in a breadboard)</a:t>
            </a:r>
            <a:r>
              <a:rPr lang="x-none" dirty="0">
                <a:solidFill>
                  <a:srgbClr val="0432FF"/>
                </a:solidFill>
              </a:rPr>
              <a:t>, add </a:t>
            </a:r>
            <a:r>
              <a:rPr lang="en-US" dirty="0">
                <a:solidFill>
                  <a:srgbClr val="0432FF"/>
                </a:solidFill>
              </a:rPr>
              <a:t>it in the slide. You may also add a short (no more than 20 second) video</a:t>
            </a:r>
            <a:endParaRPr lang="x-none" dirty="0">
              <a:solidFill>
                <a:srgbClr val="0432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3A6C0C1-621F-E056-4A53-0C0EC105CA55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462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4.1 Implementation: Photo </a:t>
            </a:r>
            <a:r>
              <a:rPr lang="en-US" dirty="0" err="1"/>
              <a:t>Gallary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x-none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15</a:t>
            </a:fld>
            <a:endParaRPr lang="x-none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xmlns="" id="{C602F4CA-DD7B-CF49-91E1-C48A0A66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xmlns="" id="{1B64B1C5-C192-DE4C-902D-771BC68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E4061DF-15B4-7C2D-0015-360B217227BD}"/>
              </a:ext>
            </a:extLst>
          </p:cNvPr>
          <p:cNvSpPr txBox="1"/>
          <p:nvPr/>
        </p:nvSpPr>
        <p:spPr>
          <a:xfrm>
            <a:off x="7863840" y="2505670"/>
            <a:ext cx="3261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Add photos that demonstrate the key features of your project</a:t>
            </a:r>
            <a:endParaRPr lang="x-none" dirty="0">
              <a:solidFill>
                <a:srgbClr val="0432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F92FCA-9F88-DE24-2D11-E2FF4AD30320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849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17F02C-1EFF-7D4C-B45F-42F0E37B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Analysis and Evaluation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5CCD3A-D4B0-7B41-958D-971CA047A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5.1 Novelty</a:t>
            </a:r>
          </a:p>
          <a:p>
            <a:r>
              <a:rPr lang="en-US" sz="3200" dirty="0"/>
              <a:t>5.2 </a:t>
            </a:r>
            <a:r>
              <a:rPr lang="en-GB" sz="3200" dirty="0"/>
              <a:t>Project Management and Cost Analysis</a:t>
            </a:r>
            <a:endParaRPr lang="en-US" sz="3200" dirty="0"/>
          </a:p>
          <a:p>
            <a:r>
              <a:rPr lang="en-GB" sz="3200" dirty="0"/>
              <a:t>5.3 Practical Considerations of the Design</a:t>
            </a:r>
          </a:p>
          <a:p>
            <a:r>
              <a:rPr lang="en-GB" sz="3200" dirty="0"/>
              <a:t>5.4 Assessment of the Impact of the Project </a:t>
            </a:r>
          </a:p>
          <a:p>
            <a:r>
              <a:rPr lang="en-US" sz="3200" dirty="0"/>
              <a:t>5.5 Evaluation of the Sustainability </a:t>
            </a:r>
            <a:endParaRPr lang="x-none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85F763-F781-F043-808B-881C1C3A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16</a:t>
            </a:fld>
            <a:endParaRPr lang="x-none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xmlns="" id="{C602F4CA-DD7B-CF49-91E1-C48A0A66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xmlns="" id="{1B64B1C5-C192-DE4C-902D-771BC682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 dirty="0"/>
              <a:t>Title of the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4290773-DEB7-F8A5-0DDE-98A3B08ED6E1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483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72C672-E565-34D9-BD41-B504F1B7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5.1 Novelty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4FE627-4B30-BCAF-2060-4ABCF5611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39777CD-4032-360E-7A48-7FE9636D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17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53DE9F-9C2B-2286-EFD9-A8CBE2B4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DBF744D-9F67-FA7D-0591-CA5EA3B5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0B6DBB1-0ECF-7E88-6A58-831B47A29F95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79BEF3-D2DA-9CC8-851A-BD8282A9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5.2 </a:t>
            </a:r>
            <a:r>
              <a:rPr lang="en-GB" sz="3600" dirty="0"/>
              <a:t>Project Management and Cost Analysis</a:t>
            </a:r>
            <a:r>
              <a:rPr lang="en-US" sz="3600" dirty="0"/>
              <a:t/>
            </a:r>
            <a:br>
              <a:rPr lang="en-US" sz="3600" dirty="0"/>
            </a:br>
            <a:endParaRPr lang="en-GB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4DEC866-5C11-A00C-79F7-D1DCD619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18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205DCE-48C8-5F84-EABA-19093DF342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14AFA5-CCD1-4493-98C2-BBF361C3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BBBCD1C-83EE-59C6-1CFF-FBDC437E2AEC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07758"/>
              </p:ext>
            </p:extLst>
          </p:nvPr>
        </p:nvGraphicFramePr>
        <p:xfrm>
          <a:off x="963294" y="1039668"/>
          <a:ext cx="10265412" cy="5090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1804"/>
                <a:gridCol w="3421804"/>
                <a:gridCol w="3421804"/>
              </a:tblGrid>
              <a:tr h="42625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Component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Quantity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Cost</a:t>
                      </a:r>
                      <a:endParaRPr lang="en-US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Priority Encoder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74148)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3-Input NAND (7410)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3-Input AND (7411)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3-Input OR (74HC4075)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2-Input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OR (7432)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2-Input AND (7408)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NOT (7404)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LED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Switch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Breadboard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  <a:tr h="4211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Jumper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Bundle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769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79BEF3-D2DA-9CC8-851A-BD8282A9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5.3 Practical Considerations of the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A08E16-584B-D72C-0B2C-E56CD66E8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1 slide, address these points:</a:t>
            </a:r>
          </a:p>
          <a:p>
            <a:r>
              <a:rPr lang="en-GB" dirty="0"/>
              <a:t>5.3.1	Considerations to public health and safety</a:t>
            </a:r>
          </a:p>
          <a:p>
            <a:r>
              <a:rPr lang="en-GB" dirty="0"/>
              <a:t>5.3.2	Considerations to environment </a:t>
            </a:r>
          </a:p>
          <a:p>
            <a:r>
              <a:rPr lang="en-GB" dirty="0"/>
              <a:t>5.3.3	Considerations to cultural and societal needs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4DEC866-5C11-A00C-79F7-D1DCD619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19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205DCE-48C8-5F84-EABA-19093DF342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14AFA5-CCD1-4493-98C2-BBF361C3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A7AAF14-4C45-EA35-A955-9D32512D23E4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576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79BEF3-D2DA-9CC8-851A-BD8282A9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5.4 Assessment of the Impact of the Project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A08E16-584B-D72C-0B2C-E56CD66E8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1 slide, address these points:</a:t>
            </a:r>
          </a:p>
          <a:p>
            <a:r>
              <a:rPr lang="en-GB" dirty="0"/>
              <a:t>5.4.1	Assessment of Societal Issues</a:t>
            </a:r>
          </a:p>
          <a:p>
            <a:r>
              <a:rPr lang="en-GB" dirty="0"/>
              <a:t>5.4.2	Assessment of Health and Safety Issues</a:t>
            </a:r>
          </a:p>
          <a:p>
            <a:r>
              <a:rPr lang="en-GB" dirty="0"/>
              <a:t>5.4.3	Assessment of Legal Issues </a:t>
            </a:r>
          </a:p>
          <a:p>
            <a:r>
              <a:rPr lang="en-GB" dirty="0"/>
              <a:t>5.4.4	Assessment of Cultural Issues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4DEC866-5C11-A00C-79F7-D1DCD619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20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205DCE-48C8-5F84-EABA-19093DF342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14AFA5-CCD1-4493-98C2-BBF361C3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F58B718-7F3C-3ADD-2AD1-559848874AE0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217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D050AC-A28B-BFBC-FBA4-9DE600AE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5.5 Evaluation of the Sustainability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DF71AF-DB81-A1C1-3DD7-359C91B48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1 slide, address these points:</a:t>
            </a:r>
          </a:p>
          <a:p>
            <a:r>
              <a:rPr lang="en-GB" dirty="0"/>
              <a:t>5.5.1	Evaluation of Sustainability</a:t>
            </a:r>
          </a:p>
          <a:p>
            <a:r>
              <a:rPr lang="en-GB" dirty="0"/>
              <a:t>5.5.2	Evaluation of Impact of Design in Societal Context </a:t>
            </a:r>
          </a:p>
          <a:p>
            <a:r>
              <a:rPr lang="en-GB" dirty="0"/>
              <a:t>5.5.3	Evaluation of Impact of Design in Environmental Context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21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672CFD0-6130-E23B-5F91-AD03A84FF4B0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352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D050AC-A28B-BFBC-FBA4-9DE600AE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6. Reflection on Individual and Team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DF71AF-DB81-A1C1-3DD7-359C91B48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6.1  Individual Contribution of Each Member</a:t>
            </a:r>
          </a:p>
          <a:p>
            <a:pPr marL="0" indent="0">
              <a:buNone/>
            </a:pPr>
            <a:r>
              <a:rPr lang="en-GB" sz="2800" dirty="0"/>
              <a:t>6.2  Mode of </a:t>
            </a:r>
            <a:r>
              <a:rPr lang="en-GB" sz="2800" dirty="0" err="1"/>
              <a:t>TeamWork</a:t>
            </a:r>
            <a:endParaRPr lang="en-GB" sz="2800" dirty="0"/>
          </a:p>
          <a:p>
            <a:pPr marL="0" indent="0">
              <a:buNone/>
            </a:pPr>
            <a:r>
              <a:rPr lang="en-GB" sz="2800" dirty="0"/>
              <a:t>6.3  Diversity Statement of Team</a:t>
            </a:r>
          </a:p>
          <a:p>
            <a:pPr marL="0" indent="0">
              <a:buNone/>
            </a:pPr>
            <a:r>
              <a:rPr lang="en-GB" sz="2800" dirty="0"/>
              <a:t>6.4  Log Book of Project </a:t>
            </a:r>
            <a:r>
              <a:rPr lang="en-GB" sz="2800" dirty="0" err="1"/>
              <a:t>Impelementation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22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781362F-3C3E-5664-9751-6640D7AF577C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090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D050AC-A28B-BFBC-FBA4-9DE600AE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6.1 Individual Contribution of Each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DF71AF-DB81-A1C1-3DD7-359C91B48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Explain what each member of the team did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23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7C5014D-E724-98D1-08B1-D54FCF40FA6F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797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D050AC-A28B-BFBC-FBA4-9DE600AE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6.2 Mode of </a:t>
            </a:r>
            <a:r>
              <a:rPr lang="en-GB" sz="3600" dirty="0" err="1"/>
              <a:t>TeamWork</a:t>
            </a:r>
            <a:r>
              <a:rPr lang="en-GB" sz="3600" dirty="0"/>
              <a:t> and 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DF71AF-DB81-A1C1-3DD7-359C91B48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Explain how your team is a diverse representation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Also explain how you completed the project as a team. Add pictures if necessary (even funny pictures are okay here).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24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/>
              <a:t>EEE 416 (2022)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2A2B3C6-2150-2AC1-2313-1E012018FF6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108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D050AC-A28B-BFBC-FBA4-9DE600AE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6.3 Logbook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DF71AF-DB81-A1C1-3DD7-359C91B48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Briefly show the logbook of your project here (screenshot)</a:t>
            </a:r>
          </a:p>
          <a:p>
            <a:pPr marL="0" indent="0">
              <a:buNone/>
            </a:pPr>
            <a:r>
              <a:rPr lang="en-US" sz="2800" dirty="0"/>
              <a:t>In presentation, just show this slide, no need to explain.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BF24355-A269-4C7E-7377-5CDD2E38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25</a:t>
            </a:fld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0DA1799-EACD-1A8B-5E85-A9FC657B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6" y="6501637"/>
            <a:ext cx="4825314" cy="375412"/>
          </a:xfrm>
        </p:spPr>
        <p:txBody>
          <a:bodyPr/>
          <a:lstStyle/>
          <a:p>
            <a:r>
              <a:rPr lang="en-US" dirty="0"/>
              <a:t>EEE 416 (2022) – Final Project Group A.XY</a:t>
            </a:r>
            <a:endParaRPr lang="x-non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92A33B4-1A80-9EB5-5592-98F22D4A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82588"/>
            <a:ext cx="6153150" cy="375412"/>
          </a:xfrm>
        </p:spPr>
        <p:txBody>
          <a:bodyPr/>
          <a:lstStyle/>
          <a:p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6DCD518-4277-8C37-FE7B-137663AD0A5D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443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CBF11D-A416-0F4E-9F78-0DF2456C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r>
              <a:rPr lang="x-none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A9824A-37CE-5047-8E24-58FA9D659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dirty="0"/>
              <a:t>Add any and all references here, for websites, give URL. Include any research articles, datasheets, handbooks, reference manuals used in the project.</a:t>
            </a:r>
            <a:r>
              <a:rPr lang="en-US" dirty="0"/>
              <a:t> In presentation, just show this slide, no need to explain.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DC25CA0-776A-F245-A1EB-5693AB3E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485" y="6501637"/>
            <a:ext cx="3909769" cy="356363"/>
          </a:xfrm>
        </p:spPr>
        <p:txBody>
          <a:bodyPr/>
          <a:lstStyle/>
          <a:p>
            <a:r>
              <a:rPr lang="en-US" dirty="0"/>
              <a:t>EEE 416 (2022) – Final Project Group A.XY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D3A405-BAC8-CE44-AF2C-14F06899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950" y="6501638"/>
            <a:ext cx="521970" cy="308530"/>
          </a:xfrm>
        </p:spPr>
        <p:txBody>
          <a:bodyPr/>
          <a:lstStyle/>
          <a:p>
            <a:fld id="{E9C29D53-9981-884B-B5B6-B5743DF81FD1}" type="slidenum">
              <a:rPr lang="x-none" smtClean="0"/>
              <a:t>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879CCC-2513-EADF-D5E3-66E952D3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x-none"/>
              <a:t>Title of the Project</a:t>
            </a:r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82AC141-FFE5-3761-9276-1F661A0E6FB9}"/>
              </a:ext>
            </a:extLst>
          </p:cNvPr>
          <p:cNvSpPr txBox="1"/>
          <p:nvPr/>
        </p:nvSpPr>
        <p:spPr>
          <a:xfrm>
            <a:off x="9459470" y="6470825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FF00"/>
                </a:solidFill>
                <a:latin typeface="Arial Narrow" panose="020B0606020202030204" pitchFamily="34" charset="0"/>
              </a:rPr>
              <a:t>Presented by: 1706XXX</a:t>
            </a:r>
            <a:endParaRPr lang="en-GB" i="1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AA288AEF2A764E8FBFA52CDC5095F5" ma:contentTypeVersion="5" ma:contentTypeDescription="Create a new document." ma:contentTypeScope="" ma:versionID="f436ff1b0e4cbc490601dffe75095a2b">
  <xsd:schema xmlns:xsd="http://www.w3.org/2001/XMLSchema" xmlns:xs="http://www.w3.org/2001/XMLSchema" xmlns:p="http://schemas.microsoft.com/office/2006/metadata/properties" xmlns:ns2="4bf370e5-223e-4070-bf3a-66ea768f7e6d" targetNamespace="http://schemas.microsoft.com/office/2006/metadata/properties" ma:root="true" ma:fieldsID="0419eee7ce466cc010023b4c6f5f3e2b" ns2:_="">
    <xsd:import namespace="4bf370e5-223e-4070-bf3a-66ea768f7e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f370e5-223e-4070-bf3a-66ea768f7e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7A691A-A9B4-49FD-8B56-8B259DCE51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79D811-8D80-4862-8FB8-9D18E35170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f370e5-223e-4070-bf3a-66ea768f7e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{05D23346-88B9-1E48-85E6-2D29E7791F05}tf10001067</Template>
  <TotalTime>170</TotalTime>
  <Words>1338</Words>
  <Application>Microsoft Office PowerPoint</Application>
  <PresentationFormat>Widescreen</PresentationFormat>
  <Paragraphs>254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Black</vt:lpstr>
      <vt:lpstr>Arial Narrow</vt:lpstr>
      <vt:lpstr>Calibri</vt:lpstr>
      <vt:lpstr>Century Gothic</vt:lpstr>
      <vt:lpstr>Garamond</vt:lpstr>
      <vt:lpstr>Times New Roman</vt:lpstr>
      <vt:lpstr>Savon</vt:lpstr>
      <vt:lpstr>Elevator Call Response System</vt:lpstr>
      <vt:lpstr>Outline</vt:lpstr>
      <vt:lpstr>1. Summary / Abstract</vt:lpstr>
      <vt:lpstr>2. Introduction</vt:lpstr>
      <vt:lpstr>2. Introduction</vt:lpstr>
      <vt:lpstr>2. Introduction</vt:lpstr>
      <vt:lpstr>2. Introduction</vt:lpstr>
      <vt:lpstr>2. Introduction</vt:lpstr>
      <vt:lpstr>3.1 Design: Methods</vt:lpstr>
      <vt:lpstr>3.1 Design: Methods</vt:lpstr>
      <vt:lpstr>3.2 Design: Circuit Diagram</vt:lpstr>
      <vt:lpstr>3.3 Design: Simulation (optional)</vt:lpstr>
      <vt:lpstr>3.4 Design: PCB Layout and 3d rendering</vt:lpstr>
      <vt:lpstr>4 Implementation: Demonstration</vt:lpstr>
      <vt:lpstr>4.1 Implementation: Photo Gallary</vt:lpstr>
      <vt:lpstr>5. Analysis and Evaluation</vt:lpstr>
      <vt:lpstr>5.1 Novelty</vt:lpstr>
      <vt:lpstr>5.2 Project Management and Cost Analysis </vt:lpstr>
      <vt:lpstr>5.3 Practical Considerations of the Design</vt:lpstr>
      <vt:lpstr>5.4 Assessment of the Impact of the Project </vt:lpstr>
      <vt:lpstr>5.5 Evaluation of the Sustainability </vt:lpstr>
      <vt:lpstr>6. Reflection on Individual and Team work </vt:lpstr>
      <vt:lpstr>6.1 Individual Contribution of Each Member</vt:lpstr>
      <vt:lpstr>6.2 Mode of TeamWork and Diversity</vt:lpstr>
      <vt:lpstr>6.3 Logbook of Project</vt:lpstr>
      <vt:lpstr>7. 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Sajid Muhaimin Choudhury</dc:creator>
  <cp:lastModifiedBy>asus</cp:lastModifiedBy>
  <cp:revision>43</cp:revision>
  <dcterms:created xsi:type="dcterms:W3CDTF">2021-07-11T09:27:00Z</dcterms:created>
  <dcterms:modified xsi:type="dcterms:W3CDTF">2023-09-08T20:14:27Z</dcterms:modified>
</cp:coreProperties>
</file>